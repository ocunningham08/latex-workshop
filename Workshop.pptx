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4" r:id="rId4"/>
    <p:sldId id="288" r:id="rId5"/>
    <p:sldId id="266" r:id="rId6"/>
    <p:sldId id="267" r:id="rId7"/>
    <p:sldId id="269" r:id="rId8"/>
    <p:sldId id="270" r:id="rId9"/>
    <p:sldId id="272" r:id="rId10"/>
    <p:sldId id="271" r:id="rId11"/>
    <p:sldId id="279" r:id="rId12"/>
    <p:sldId id="276" r:id="rId13"/>
    <p:sldId id="277" r:id="rId14"/>
    <p:sldId id="278" r:id="rId15"/>
    <p:sldId id="283" r:id="rId16"/>
    <p:sldId id="285" r:id="rId17"/>
    <p:sldId id="274" r:id="rId18"/>
    <p:sldId id="284" r:id="rId19"/>
    <p:sldId id="275" r:id="rId20"/>
    <p:sldId id="273" r:id="rId21"/>
    <p:sldId id="286" r:id="rId22"/>
    <p:sldId id="287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841D66-88C6-C0E3-BF03-F1F8567D8E22}" v="69" dt="2024-02-27T14:38:33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7"/>
    <p:restoredTop sz="94678"/>
  </p:normalViewPr>
  <p:slideViewPr>
    <p:cSldViewPr snapToGrid="0">
      <p:cViewPr>
        <p:scale>
          <a:sx n="169" d="100"/>
          <a:sy n="169" d="100"/>
        </p:scale>
        <p:origin x="-240" y="-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Grant" userId="S::3052328@ads.qub.ac.uk::147124d1-7bb0-4bc1-ba10-3c9191cc0b43" providerId="AD" clId="Web-{6C841D66-88C6-C0E3-BF03-F1F8567D8E22}"/>
    <pc:docChg chg="modSld">
      <pc:chgData name="Samuel Grant" userId="S::3052328@ads.qub.ac.uk::147124d1-7bb0-4bc1-ba10-3c9191cc0b43" providerId="AD" clId="Web-{6C841D66-88C6-C0E3-BF03-F1F8567D8E22}" dt="2024-02-27T14:38:31.065" v="64" actId="20577"/>
      <pc:docMkLst>
        <pc:docMk/>
      </pc:docMkLst>
      <pc:sldChg chg="addSp delSp modSp">
        <pc:chgData name="Samuel Grant" userId="S::3052328@ads.qub.ac.uk::147124d1-7bb0-4bc1-ba10-3c9191cc0b43" providerId="AD" clId="Web-{6C841D66-88C6-C0E3-BF03-F1F8567D8E22}" dt="2024-02-27T14:36:29.842" v="52" actId="20577"/>
        <pc:sldMkLst>
          <pc:docMk/>
          <pc:sldMk cId="3782880984" sldId="260"/>
        </pc:sldMkLst>
        <pc:spChg chg="mod">
          <ac:chgData name="Samuel Grant" userId="S::3052328@ads.qub.ac.uk::147124d1-7bb0-4bc1-ba10-3c9191cc0b43" providerId="AD" clId="Web-{6C841D66-88C6-C0E3-BF03-F1F8567D8E22}" dt="2024-02-27T14:36:29.842" v="52" actId="20577"/>
          <ac:spMkLst>
            <pc:docMk/>
            <pc:sldMk cId="3782880984" sldId="260"/>
            <ac:spMk id="3" creationId="{3458CEFE-CF5A-47C4-72CA-4B8072A88068}"/>
          </ac:spMkLst>
        </pc:spChg>
        <pc:picChg chg="add del mod">
          <ac:chgData name="Samuel Grant" userId="S::3052328@ads.qub.ac.uk::147124d1-7bb0-4bc1-ba10-3c9191cc0b43" providerId="AD" clId="Web-{6C841D66-88C6-C0E3-BF03-F1F8567D8E22}" dt="2024-02-27T14:32:02.473" v="6"/>
          <ac:picMkLst>
            <pc:docMk/>
            <pc:sldMk cId="3782880984" sldId="260"/>
            <ac:picMk id="4" creationId="{C5976A4E-750D-E8A7-4D20-EEEE4C322149}"/>
          </ac:picMkLst>
        </pc:picChg>
        <pc:picChg chg="add mod">
          <ac:chgData name="Samuel Grant" userId="S::3052328@ads.qub.ac.uk::147124d1-7bb0-4bc1-ba10-3c9191cc0b43" providerId="AD" clId="Web-{6C841D66-88C6-C0E3-BF03-F1F8567D8E22}" dt="2024-02-27T14:34:05.118" v="11" actId="1076"/>
          <ac:picMkLst>
            <pc:docMk/>
            <pc:sldMk cId="3782880984" sldId="260"/>
            <ac:picMk id="5" creationId="{F2D7A596-56C0-4197-21C1-CC9A21AF24CF}"/>
          </ac:picMkLst>
        </pc:picChg>
        <pc:picChg chg="add mod">
          <ac:chgData name="Samuel Grant" userId="S::3052328@ads.qub.ac.uk::147124d1-7bb0-4bc1-ba10-3c9191cc0b43" providerId="AD" clId="Web-{6C841D66-88C6-C0E3-BF03-F1F8567D8E22}" dt="2024-02-27T14:35:45.762" v="13" actId="1076"/>
          <ac:picMkLst>
            <pc:docMk/>
            <pc:sldMk cId="3782880984" sldId="260"/>
            <ac:picMk id="6" creationId="{B14A89F0-289B-7D43-E0FF-7E1775A0F152}"/>
          </ac:picMkLst>
        </pc:picChg>
      </pc:sldChg>
      <pc:sldChg chg="modSp">
        <pc:chgData name="Samuel Grant" userId="S::3052328@ads.qub.ac.uk::147124d1-7bb0-4bc1-ba10-3c9191cc0b43" providerId="AD" clId="Web-{6C841D66-88C6-C0E3-BF03-F1F8567D8E22}" dt="2024-02-27T14:38:31.065" v="64" actId="20577"/>
        <pc:sldMkLst>
          <pc:docMk/>
          <pc:sldMk cId="1398116101" sldId="273"/>
        </pc:sldMkLst>
        <pc:spChg chg="mod">
          <ac:chgData name="Samuel Grant" userId="S::3052328@ads.qub.ac.uk::147124d1-7bb0-4bc1-ba10-3c9191cc0b43" providerId="AD" clId="Web-{6C841D66-88C6-C0E3-BF03-F1F8567D8E22}" dt="2024-02-27T14:38:31.065" v="64" actId="20577"/>
          <ac:spMkLst>
            <pc:docMk/>
            <pc:sldMk cId="1398116101" sldId="273"/>
            <ac:spMk id="3" creationId="{95A5007F-6EA2-9EA1-D4DE-02A40BBC8B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2EFC-C2E5-4E7D-94AF-EFC6573611C5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0809E-1D7D-429A-8521-6A722A25E9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57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Lots of premade templates. Institutional templates has good dissertation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0809E-1D7D-429A-8521-6A722A25E9A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089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Article on left, On right is report. Report has dedicated title page, dedicated abstract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0809E-1D7D-429A-8521-6A722A25E9A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022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2A9B-1B64-C966-8905-DCF58CA5B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58D8F-A33C-4A3E-F5F0-7056C8704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12CF-68AB-398E-00C1-07766A24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7C6C-38B3-41C3-AF49-3204BA190E22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0367E-A697-1E17-48B0-241E28695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0F26-D87E-244F-D74B-AC378EDD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33A3-BCBC-469D-B788-F7F4ECFBD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16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4BC2-6E60-F2FD-37AF-07D93F2A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10B17-9F44-98AC-901D-09EEE71C1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6513A-36B9-C4C7-F2C6-9DB32A53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7C6C-38B3-41C3-AF49-3204BA190E22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F0458-4C8F-7940-AC7A-5B07FDE1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D2527-4817-63DC-B071-68937245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33A3-BCBC-469D-B788-F7F4ECFBD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1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2BF1F-B324-5C32-25B9-96A67CA5D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91E14-ED66-F1D1-7656-FB40626F7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53FDF-B3E8-5F20-0AE0-2B12E1DAB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7C6C-38B3-41C3-AF49-3204BA190E22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1B675-E705-C737-770A-4217D52F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F07E4-B257-3D77-5517-31AE8D45B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33A3-BCBC-469D-B788-F7F4ECFBD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16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3519-205F-5702-920A-26B3F407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D9D97-8CB5-5740-C08B-6B276A5240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498AD-D212-0979-0337-B097B6B69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DC5B1-3A09-4789-2DD7-E155D1E3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7C6C-38B3-41C3-AF49-3204BA190E22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5F702-4355-9688-0D54-59C9AA6FB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F956B-D8F9-B1DC-E3AE-356D468E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33A3-BCBC-469D-B788-F7F4ECFBD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42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A79F-F160-A26D-0EEF-5E0FD999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84A90-3E7B-7B91-F423-8C8EE8F20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5CE39-9821-1B7E-532A-ED66C0B88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B4A31-317C-014B-C438-1C321DEC3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AA9C1-F73B-F4BD-8072-80A5F16A9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6E2D23-6E32-8015-D762-DC2B519B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7C6C-38B3-41C3-AF49-3204BA190E22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FD081E-8AC8-7287-E85C-B8A875F18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54AFB-BF91-C573-D316-8711FB36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33A3-BCBC-469D-B788-F7F4ECFBD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712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5AFB7-CA9C-D5D8-A737-18D739E6F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EBC97-C044-CA66-A54E-1609AFFF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7C6C-38B3-41C3-AF49-3204BA190E22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F6CEE-B422-D063-8912-214501337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281DB-A7BC-D5F3-BFF4-F048C6B3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33A3-BCBC-469D-B788-F7F4ECFBD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516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F421B-0409-4B09-C92D-C330BE39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7C6C-38B3-41C3-AF49-3204BA190E22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A0799-89D9-3887-4B23-FE3FAAB0E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603C3-7807-2F90-F906-E6B7A857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33A3-BCBC-469D-B788-F7F4ECFBD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581B2-7B21-AC5B-9A9A-6A9268CEF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B0DC9-899C-0B7A-7A5B-8C77D240B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6FC00-B760-C8F7-2E27-0A0059A9C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5CCEC-8109-8032-C1AA-83DDCDE5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7C6C-38B3-41C3-AF49-3204BA190E22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9B58C-71E6-A487-7F48-FA9E55A8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EA7DC-4D38-C31B-F9EF-B0A2B17D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33A3-BCBC-469D-B788-F7F4ECFBD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51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3781C-DD9D-486A-7165-08F04ED8C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A5406-95FB-DAB8-B6B8-3FA44D588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63462-2835-D725-F031-AAC7D70ED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DDFD7-DC59-116A-33F8-510B363FF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7C6C-38B3-41C3-AF49-3204BA190E22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262BC-AF0A-C35A-AAD2-50DBFB98E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96712-6972-339E-1CB3-ACDF8F18F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33A3-BCBC-469D-B788-F7F4ECFBD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484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CE7F3-A8F8-2B5C-159C-3EF537D4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497EE-AE1D-E29C-3771-C6DDCFCB9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1428-452B-902C-338F-2BC3151BF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7C6C-38B3-41C3-AF49-3204BA190E22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FA71D-4F0B-0A4F-6194-85F19E58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F93E5-2F86-B0D4-75EE-5F06A9A3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33A3-BCBC-469D-B788-F7F4ECFBD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11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F6A21A-8457-F25F-8727-EE6CFE6C9A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E0B20-7EAA-9FF8-0C35-C73C30BF4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81820-4340-CA09-A15C-B94FA581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7C6C-38B3-41C3-AF49-3204BA190E22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09EF4-005B-0CC1-C558-20BA5F843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861CA-EA8C-4A4D-41F6-7C97D6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33A3-BCBC-469D-B788-F7F4ECFBD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324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84B84B-BFBB-2E62-0F22-A849E1212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DBE8C-34B3-9B36-2436-F5A9E55CF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8E384-9312-6838-F63F-230A90587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97C6C-38B3-41C3-AF49-3204BA190E22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472F2-8C98-498A-EA07-7BB28A793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2621A-0FB0-44F6-C209-63D2EB777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233A3-BCBC-469D-B788-F7F4ECFBD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10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overleaf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overleaf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.ytimg.com/vi/6Rv3RFrB6k8/maxresdefault.jpg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40073D-2C6B-B11A-F2F7-F1436522A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GB" sz="8000" dirty="0"/>
              <a:t>LaTeX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04C9D-D882-CE61-ABAD-3A0532712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7022" y="4421273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GB" dirty="0"/>
              <a:t>12/11/25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3D169F-E2EC-8895-1621-B80B666C6A6D}"/>
              </a:ext>
            </a:extLst>
          </p:cNvPr>
          <p:cNvSpPr txBox="1"/>
          <p:nvPr/>
        </p:nvSpPr>
        <p:spPr>
          <a:xfrm>
            <a:off x="838199" y="4739285"/>
            <a:ext cx="6302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Oliver Cunningham </a:t>
            </a:r>
          </a:p>
          <a:p>
            <a:r>
              <a:rPr lang="en-GB" sz="2400" dirty="0"/>
              <a:t>Queen’s University Belfast</a:t>
            </a:r>
          </a:p>
        </p:txBody>
      </p:sp>
    </p:spTree>
    <p:extLst>
      <p:ext uri="{BB962C8B-B14F-4D97-AF65-F5344CB8AC3E}">
        <p14:creationId xmlns:p14="http://schemas.microsoft.com/office/powerpoint/2010/main" val="2172351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1F164-87D5-11A8-CBC3-EDEE7250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What is LaTeX?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F1354-1210-21A3-986A-5594A8551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b="0" i="0" dirty="0">
                <a:effectLst/>
              </a:rPr>
              <a:t>LaTeX is a typesetting system including features to produce technical and scientific documentation</a:t>
            </a:r>
          </a:p>
          <a:p>
            <a:r>
              <a:rPr lang="en-GB" sz="1800" dirty="0"/>
              <a:t>Overleaf is a free browser-based LaTeX editor</a:t>
            </a:r>
          </a:p>
          <a:p>
            <a:r>
              <a:rPr lang="en-GB" sz="1800" dirty="0"/>
              <a:t>Access to a premium account is free for QUB students</a:t>
            </a:r>
            <a:endParaRPr lang="en-GB" sz="1800" b="0" i="0" baseline="30000" dirty="0">
              <a:effectLst/>
            </a:endParaRPr>
          </a:p>
        </p:txBody>
      </p:sp>
      <p:pic>
        <p:nvPicPr>
          <p:cNvPr id="4" name="Picture 4" descr="Research Lifecycle Programme | Overleaf Feedback">
            <a:extLst>
              <a:ext uri="{FF2B5EF4-FFF2-40B4-BE49-F238E27FC236}">
                <a16:creationId xmlns:a16="http://schemas.microsoft.com/office/drawing/2014/main" id="{6626D21B-C953-A9FE-0315-13EC5ED40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76" y="2873795"/>
            <a:ext cx="11167447" cy="369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268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593AE-6950-024F-A51A-C1198B0A3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5E177E7-033E-2CE4-0BE3-7B3544251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01EF07A-2D95-0F76-95DD-B28A36BB7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6DD2C-32C1-9E2D-9F3F-77FEBF08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How to create an Overleaf account.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D08AB6-42AF-AF62-3504-574D71242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4A9670-C74C-FF96-4B7C-CAE39463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FD943-10DC-8C06-6C98-1A9175EC5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626277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Go to </a:t>
            </a:r>
            <a:r>
              <a:rPr lang="en-GB" sz="1800" dirty="0">
                <a:hlinkClick r:id="rId2"/>
              </a:rPr>
              <a:t>https://www.overleaf.com</a:t>
            </a:r>
            <a:endParaRPr lang="en-GB" sz="1800" dirty="0"/>
          </a:p>
          <a:p>
            <a:r>
              <a:rPr lang="en-GB" sz="1800" dirty="0"/>
              <a:t>Select sign up</a:t>
            </a:r>
          </a:p>
          <a:p>
            <a:r>
              <a:rPr lang="en-GB" sz="1800" dirty="0"/>
              <a:t>Select Log in with SSO</a:t>
            </a:r>
          </a:p>
          <a:p>
            <a:r>
              <a:rPr lang="en-GB" sz="1800" dirty="0"/>
              <a:t>Enter your QUB email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F5235-49FC-D914-ECCA-55D5BF46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69" y="2767579"/>
            <a:ext cx="10632261" cy="359504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063E55E-41FA-C2BE-E776-1A30B429BF1C}"/>
              </a:ext>
            </a:extLst>
          </p:cNvPr>
          <p:cNvSpPr/>
          <p:nvPr/>
        </p:nvSpPr>
        <p:spPr>
          <a:xfrm>
            <a:off x="9488130" y="2767578"/>
            <a:ext cx="1710812" cy="50144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81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4F29B0-D45C-52E2-9D61-1588DDBE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C1B70EC-B93B-B793-1FFE-E666A47D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7960AA0-CD64-EC03-A041-CBF1D4E6A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39EE28-F3CE-66DE-45AB-763744FB4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How to create an Overleaf account.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3C83CE-9448-78A0-385C-743C8776C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C453E6-96A9-6304-E445-FA2308562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3D6D1-7018-9740-1A0C-9ADB3C7FC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626277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Go to </a:t>
            </a:r>
            <a:r>
              <a:rPr lang="en-GB" sz="1800" dirty="0">
                <a:hlinkClick r:id="rId2"/>
              </a:rPr>
              <a:t>https://www.overleaf.com</a:t>
            </a:r>
            <a:endParaRPr lang="en-GB" sz="1800" dirty="0"/>
          </a:p>
          <a:p>
            <a:r>
              <a:rPr lang="en-GB" sz="1800" dirty="0"/>
              <a:t>Select sign up</a:t>
            </a:r>
          </a:p>
          <a:p>
            <a:r>
              <a:rPr lang="en-GB" sz="1800" dirty="0"/>
              <a:t>Select Log in with SSO</a:t>
            </a:r>
          </a:p>
          <a:p>
            <a:r>
              <a:rPr lang="en-GB" sz="1800" dirty="0"/>
              <a:t>Enter your QUB email.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62506-1511-9AE7-5DE9-0884BC75CF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13" r="6775" b="8584"/>
          <a:stretch>
            <a:fillRect/>
          </a:stretch>
        </p:blipFill>
        <p:spPr>
          <a:xfrm>
            <a:off x="1898815" y="2557915"/>
            <a:ext cx="2849455" cy="419661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286D52C-0D95-2BA1-798C-E67D95591B6F}"/>
              </a:ext>
            </a:extLst>
          </p:cNvPr>
          <p:cNvSpPr/>
          <p:nvPr/>
        </p:nvSpPr>
        <p:spPr>
          <a:xfrm>
            <a:off x="2104222" y="6231047"/>
            <a:ext cx="2554614" cy="6049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6C1148-8F60-F479-4AD6-35A1E40F45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65" t="3649" r="2344" b="4549"/>
          <a:stretch>
            <a:fillRect/>
          </a:stretch>
        </p:blipFill>
        <p:spPr>
          <a:xfrm>
            <a:off x="6763058" y="3029639"/>
            <a:ext cx="3614831" cy="331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66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22053-607A-CACF-231D-56716362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492ECC1-BB0A-0A44-0330-5341096BE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17238E3-538A-F45C-BB4E-94003D98A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0D8C7-AB4E-1D43-ED05-17B8236BE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Creating a Blank Document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561314-0C6B-BDB3-943F-741313A41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FA472D-8B80-A38D-0274-1EFA69405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3DCE5-F8BA-5B98-E497-972B00841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124" y="67826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Select New Project</a:t>
            </a:r>
          </a:p>
          <a:p>
            <a:r>
              <a:rPr lang="en-GB" sz="1800" dirty="0"/>
              <a:t>Select Blank Project</a:t>
            </a:r>
          </a:p>
          <a:p>
            <a:r>
              <a:rPr lang="en-GB" sz="1800" dirty="0"/>
              <a:t>You can also select many different templates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5FF69-4619-96BF-9109-8233E0EF0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578" y="2561967"/>
            <a:ext cx="8966823" cy="40988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323CCB-CF85-0244-7537-7F6EE7A0D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198" y="2501434"/>
            <a:ext cx="2548781" cy="421991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B296156-623B-D207-DB2E-22225FF016E0}"/>
              </a:ext>
            </a:extLst>
          </p:cNvPr>
          <p:cNvSpPr/>
          <p:nvPr/>
        </p:nvSpPr>
        <p:spPr>
          <a:xfrm>
            <a:off x="147380" y="3992701"/>
            <a:ext cx="2292889" cy="6049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418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B6ECA-1C22-2A05-A25A-C23F9DFA2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C88BFF8-7ED3-1AC6-4094-4633C0978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711D5B1-BB42-B1D0-FB88-4BFE74BFD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6EACD-E115-C9C9-93FD-ABF74E611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Document Class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78CCFF-F97F-79FB-AE36-1FCC9B73B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302E6D-BA62-F44E-90DD-A719D68AC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7AA2C-E1E3-0961-A600-AD0950D0D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58580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Defines the overall layout of document</a:t>
            </a:r>
          </a:p>
          <a:p>
            <a:r>
              <a:rPr lang="en-GB" sz="1800" dirty="0"/>
              <a:t>Commonly used classes are article and 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55208-EAD2-25DE-7996-5A39F1649D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441"/>
          <a:stretch>
            <a:fillRect/>
          </a:stretch>
        </p:blipFill>
        <p:spPr>
          <a:xfrm>
            <a:off x="307387" y="3512181"/>
            <a:ext cx="5540220" cy="2898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34384D-0039-54E0-30C0-54F6AE761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351" y="2690090"/>
            <a:ext cx="5570703" cy="39322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C931F0-5E2B-C4DD-224E-E3561D1B5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017" y="2541802"/>
            <a:ext cx="2643370" cy="2965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3E2359-49C9-ABD6-55AA-6D2FF1B0D9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4099" y="2522994"/>
            <a:ext cx="2526796" cy="29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9C6EB-5601-2627-5AFB-C88113D2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16EBD89-FD63-0238-A362-968E79657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1FEE065-4129-9CF4-8714-92E190008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43E38-0B4A-C823-46D3-CD1CA8E0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Packages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F02F2E-3E1A-DC98-298B-E417740F0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FA87D8-6C08-0D32-3BB5-15B4207D6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1B0DA-83B8-D290-DABC-778DEA354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12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Many external packages to add new commands and functions</a:t>
            </a:r>
          </a:p>
          <a:p>
            <a:r>
              <a:rPr lang="en-GB" sz="1800" dirty="0"/>
              <a:t>For example, </a:t>
            </a:r>
            <a:r>
              <a:rPr lang="en-GB" sz="1800" dirty="0" err="1"/>
              <a:t>natbib</a:t>
            </a:r>
            <a:r>
              <a:rPr lang="en-GB" sz="1800" dirty="0"/>
              <a:t> for referencing and </a:t>
            </a:r>
            <a:r>
              <a:rPr lang="en-GB" sz="1800" dirty="0" err="1"/>
              <a:t>amsmath</a:t>
            </a:r>
            <a:r>
              <a:rPr lang="en-GB" sz="1800" dirty="0"/>
              <a:t> for equations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B74D0-69AC-3A8C-A81A-9EAD3FC854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82"/>
          <a:stretch>
            <a:fillRect/>
          </a:stretch>
        </p:blipFill>
        <p:spPr>
          <a:xfrm>
            <a:off x="2369658" y="2897271"/>
            <a:ext cx="7536961" cy="3517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99C737-BF66-3ABA-EE01-E82826E7BD3D}"/>
              </a:ext>
            </a:extLst>
          </p:cNvPr>
          <p:cNvSpPr/>
          <p:nvPr/>
        </p:nvSpPr>
        <p:spPr>
          <a:xfrm>
            <a:off x="2369658" y="4183072"/>
            <a:ext cx="5642149" cy="9462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5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6C21F-3EE1-3459-9DE8-ED914837F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7C7127C-C01A-3EB1-3950-87A9675C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4A34DDB-F7DA-BFEB-9B60-23891AC4E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7C6B11-50AA-767E-239F-9CA2A3B02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Title, Date, Author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7D0F5A-451B-EB67-E90C-5C24D06D1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2A73FF-9061-B5D9-EFAE-BCC17E3E1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19BEC-4C70-BA24-96CD-A48DA524F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414" y="673914"/>
            <a:ext cx="6476170" cy="1645920"/>
          </a:xfrm>
        </p:spPr>
        <p:txBody>
          <a:bodyPr anchor="ctr">
            <a:normAutofit fontScale="92500"/>
          </a:bodyPr>
          <a:lstStyle/>
          <a:p>
            <a:r>
              <a:rPr lang="en-GB" sz="1800" dirty="0"/>
              <a:t>Before \begin{document}: \title{}, \date{}, \author{} do as labelled</a:t>
            </a:r>
          </a:p>
          <a:p>
            <a:r>
              <a:rPr lang="en-GB" sz="1800" dirty="0"/>
              <a:t>After \begin{document}: \</a:t>
            </a:r>
            <a:r>
              <a:rPr lang="en-GB" sz="1800" dirty="0" err="1"/>
              <a:t>maketitle</a:t>
            </a:r>
            <a:r>
              <a:rPr lang="en-GB" sz="1800" dirty="0"/>
              <a:t> generates title, author and date</a:t>
            </a:r>
          </a:p>
          <a:p>
            <a:r>
              <a:rPr lang="en-GB" sz="1800" dirty="0"/>
              <a:t>Alternatively, after \begin{document}, use \begin{titlepage} for further customisation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14B80-C95C-BB4E-5785-627688F243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433"/>
          <a:stretch>
            <a:fillRect/>
          </a:stretch>
        </p:blipFill>
        <p:spPr>
          <a:xfrm>
            <a:off x="0" y="2925356"/>
            <a:ext cx="6838704" cy="33978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421972-463B-28F7-E424-E9380D7DF2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6658"/>
          <a:stretch/>
        </p:blipFill>
        <p:spPr>
          <a:xfrm>
            <a:off x="6649052" y="2767579"/>
            <a:ext cx="4858547" cy="397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390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1B1866-90BC-9058-FDC5-28B3E90B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31E6628-A78A-6A85-DB2A-F645A8FF4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CD757D9-757E-1F2A-39C5-F22DCE753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8DA745-32BB-6F6C-9E01-0A3E1ECCA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Abstract and Table of Contents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20F152-2FD4-745D-3658-BFDA6E02C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DC3592-F24B-03D9-C592-D6C034D12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1A1F3-8411-252D-816E-7D7CDFA5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\begin{abstract} creates an unnumbered abstract section</a:t>
            </a:r>
          </a:p>
          <a:p>
            <a:r>
              <a:rPr lang="en-GB" sz="1800" dirty="0"/>
              <a:t>In a report class document this is on a separate page</a:t>
            </a:r>
          </a:p>
          <a:p>
            <a:r>
              <a:rPr lang="en-GB" sz="1800" dirty="0"/>
              <a:t>\</a:t>
            </a:r>
            <a:r>
              <a:rPr lang="en-GB" sz="1800" dirty="0" err="1"/>
              <a:t>tableofcontents</a:t>
            </a:r>
            <a:r>
              <a:rPr lang="en-GB" sz="1800" dirty="0"/>
              <a:t> generates a table of contents based on the document’s sections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989EF1-73DE-5C04-2BBD-A499BC9CB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67" y="3429000"/>
            <a:ext cx="5729645" cy="1944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768980-91C5-A3B3-3EDF-B2ECDCE5D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60" y="2995768"/>
            <a:ext cx="5906303" cy="30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94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775FD-6AAC-DB59-216D-E007AC2D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CF5303-EA0B-DCEE-56E3-261190CEB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488D2E2-05B4-43E3-5C3A-85899520A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B80A4-7491-3495-BDC1-8260193E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Sections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11D72B-88EC-0B4C-1FFC-1CD405209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2AC31F-3B2A-A98D-5E4B-209BCD93A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2BCDA-0FC0-F59C-FBC7-AE65D8487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9329" y="625097"/>
            <a:ext cx="6686542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\section{} creates section headings which are numbered</a:t>
            </a:r>
          </a:p>
          <a:p>
            <a:r>
              <a:rPr lang="en-GB" sz="1800" dirty="0"/>
              <a:t>These can be followed by \subsection{} and \subsubsection{}</a:t>
            </a:r>
          </a:p>
          <a:p>
            <a:r>
              <a:rPr lang="en-GB" sz="1800" dirty="0"/>
              <a:t>In a report class document \chapter{} is the highest section type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6E0C36-B862-C2CF-926E-66820E5CA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016" y="2592202"/>
            <a:ext cx="3302430" cy="41280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CE9BA1-AECE-4758-1637-98A55E3FA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019" y="3079539"/>
            <a:ext cx="4331410" cy="308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45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DB1D8-8BB8-614E-269E-4155F02F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0563031-480B-A86F-3C47-D59F373B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07CC819-1617-A9D2-D5A9-736B2F89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A74A0-2618-0A20-F88F-80F7D7953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Basic text formatting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9BD74B-B709-98FD-987F-ED6E8381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257CA9-E8F9-DE20-6A03-1F625BDCA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4CCA6-8B79-DCF6-242E-9655D07D9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414" y="586822"/>
            <a:ext cx="6002636" cy="1645920"/>
          </a:xfrm>
        </p:spPr>
        <p:txBody>
          <a:bodyPr anchor="ctr">
            <a:normAutofit lnSpcReduction="10000"/>
          </a:bodyPr>
          <a:lstStyle/>
          <a:p>
            <a:r>
              <a:rPr lang="en-GB" sz="1800" dirty="0"/>
              <a:t>\\ creates a new line, \</a:t>
            </a:r>
            <a:r>
              <a:rPr lang="en-GB" sz="1800" dirty="0" err="1"/>
              <a:t>newpage</a:t>
            </a:r>
            <a:r>
              <a:rPr lang="en-GB" sz="1800" dirty="0"/>
              <a:t> takes a new page</a:t>
            </a:r>
          </a:p>
          <a:p>
            <a:r>
              <a:rPr lang="en-GB" sz="1800" dirty="0"/>
              <a:t>\</a:t>
            </a:r>
            <a:r>
              <a:rPr lang="en-GB" sz="1800" dirty="0" err="1"/>
              <a:t>centering</a:t>
            </a:r>
            <a:r>
              <a:rPr lang="en-GB" sz="1800" dirty="0"/>
              <a:t> </a:t>
            </a:r>
            <a:r>
              <a:rPr lang="en-GB" sz="1800" dirty="0" err="1"/>
              <a:t>centers</a:t>
            </a:r>
            <a:r>
              <a:rPr lang="en-GB" sz="1800" dirty="0"/>
              <a:t> text</a:t>
            </a:r>
          </a:p>
          <a:p>
            <a:r>
              <a:rPr lang="en-GB" sz="1800" dirty="0"/>
              <a:t>\(…\) and $...$ allow maths commands to be used in text such as Greek letters \alpha</a:t>
            </a:r>
          </a:p>
          <a:p>
            <a:r>
              <a:rPr lang="en-GB" sz="1800" dirty="0"/>
              <a:t>\</a:t>
            </a:r>
            <a:r>
              <a:rPr lang="en-GB" sz="1800" dirty="0" err="1"/>
              <a:t>textbf</a:t>
            </a:r>
            <a:r>
              <a:rPr lang="en-GB" sz="1800" dirty="0"/>
              <a:t>{} makes text bold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4A4D4-744F-9D68-9AAF-5EEDF0312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73" y="2514320"/>
            <a:ext cx="3949998" cy="4283801"/>
          </a:xfrm>
          <a:prstGeom prst="rect">
            <a:avLst/>
          </a:prstGeom>
        </p:spPr>
      </p:pic>
      <p:pic>
        <p:nvPicPr>
          <p:cNvPr id="4098" name="Picture 2" descr="LaTeX - Text Alignment - YouTube">
            <a:extLst>
              <a:ext uri="{FF2B5EF4-FFF2-40B4-BE49-F238E27FC236}">
                <a16:creationId xmlns:a16="http://schemas.microsoft.com/office/drawing/2014/main" id="{2CAA18B4-6BD6-DD32-8216-531ECD3FB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541" y="2588798"/>
            <a:ext cx="6152322" cy="346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7792F4-66A9-1407-D180-7EB4AC7D3EED}"/>
              </a:ext>
            </a:extLst>
          </p:cNvPr>
          <p:cNvSpPr txBox="1"/>
          <p:nvPr/>
        </p:nvSpPr>
        <p:spPr>
          <a:xfrm>
            <a:off x="5311759" y="6213346"/>
            <a:ext cx="6667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Above: </a:t>
            </a:r>
            <a:r>
              <a:rPr lang="en-GB" sz="1600" dirty="0">
                <a:hlinkClick r:id="rId4"/>
              </a:rPr>
              <a:t>https://i.ytimg.com/vi/6Rv3RFrB6k8/maxresdefault.jpg</a:t>
            </a:r>
            <a:endParaRPr lang="en-GB" sz="1600" dirty="0"/>
          </a:p>
          <a:p>
            <a:r>
              <a:rPr lang="en-GB" sz="1600" dirty="0"/>
              <a:t>Left: https://en.wikibooks.org/w/index.php?title=LaTeX/Fonts&amp;oldid=4240865</a:t>
            </a:r>
          </a:p>
        </p:txBody>
      </p:sp>
    </p:spTree>
    <p:extLst>
      <p:ext uri="{BB962C8B-B14F-4D97-AF65-F5344CB8AC3E}">
        <p14:creationId xmlns:p14="http://schemas.microsoft.com/office/powerpoint/2010/main" val="2861953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E6BA0-3DDF-0CBC-0014-7238AC64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7677648-03EC-9521-5997-C9299DACA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8FEA9D-9D0A-0A59-3D49-C6ED19749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DA2D9-6930-F16D-2917-9B5FF011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Referencing figures in text.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FCCFC6-DE6E-3872-A9B5-B6306F1AC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E8BD8C-4E3B-B4B3-72AF-FAC5454D4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2BE09-9B4E-6D68-5BE1-B6FAA6ED6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808521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\ref{</a:t>
            </a:r>
            <a:r>
              <a:rPr lang="en-GB" sz="1800" dirty="0" err="1"/>
              <a:t>fig:name</a:t>
            </a:r>
            <a:r>
              <a:rPr lang="en-GB" sz="1800" dirty="0"/>
              <a:t>} allows you to reference a certain figure, by number, based on the figure label</a:t>
            </a:r>
          </a:p>
          <a:p>
            <a:r>
              <a:rPr lang="en-GB" sz="1800" dirty="0"/>
              <a:t>This will appear, in text, as a number</a:t>
            </a:r>
          </a:p>
          <a:p>
            <a:r>
              <a:rPr lang="en-GB" sz="1800" dirty="0"/>
              <a:t>The </a:t>
            </a:r>
            <a:r>
              <a:rPr lang="en-GB" sz="1800" dirty="0" err="1"/>
              <a:t>cleveref</a:t>
            </a:r>
            <a:r>
              <a:rPr lang="en-GB" sz="1800" dirty="0"/>
              <a:t> package uses \</a:t>
            </a:r>
            <a:r>
              <a:rPr lang="en-GB" sz="1800" dirty="0" err="1"/>
              <a:t>cref</a:t>
            </a:r>
            <a:r>
              <a:rPr lang="en-GB" sz="1800" dirty="0"/>
              <a:t>{} which adds the label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5F943-6840-7E1A-503C-35E2DBED8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935" y="4403559"/>
            <a:ext cx="7382928" cy="1767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75F01B-6958-31CE-314A-4B0EFB0F6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16" y="3290481"/>
            <a:ext cx="3418047" cy="164926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1D504CE-FAA0-07D0-052D-8DEF381939E6}"/>
              </a:ext>
            </a:extLst>
          </p:cNvPr>
          <p:cNvSpPr/>
          <p:nvPr/>
        </p:nvSpPr>
        <p:spPr>
          <a:xfrm>
            <a:off x="5487351" y="5821708"/>
            <a:ext cx="854765" cy="56915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8BA08-1DB7-EAD4-788F-D1A8868EE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054" y="3058780"/>
            <a:ext cx="3803169" cy="74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10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DA3679-FD36-AEBE-C6CC-40EAB3F4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2CF94FE-0BAC-77D8-78D2-78C586C87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D01488E-4B0C-FE74-43A9-D72549AA2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A1B7E-6279-8AB1-E20B-7EE2EF05C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References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AD5727-0D0C-4218-EB80-A81ACF548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1D3B8C-6F11-09DA-BD9C-5816D3EE9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F4D4B-A8CB-5665-06A5-B3AB22BCD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428" y="365124"/>
            <a:ext cx="6137400" cy="2089317"/>
          </a:xfrm>
        </p:spPr>
        <p:txBody>
          <a:bodyPr anchor="ctr">
            <a:normAutofit/>
          </a:bodyPr>
          <a:lstStyle/>
          <a:p>
            <a:r>
              <a:rPr lang="en-GB" sz="1800" dirty="0"/>
              <a:t>LaTeX can automatically compile your reference section based on what you reference. </a:t>
            </a:r>
          </a:p>
          <a:p>
            <a:r>
              <a:rPr lang="en-GB" sz="1800" dirty="0"/>
              <a:t>This works through a separate file called a .bib file.</a:t>
            </a:r>
          </a:p>
          <a:p>
            <a:r>
              <a:rPr lang="en-GB" sz="1800" dirty="0"/>
              <a:t>References in a .bib file have different classes such as article.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77A6C-79D5-79FB-5287-F18C1B231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24" y="2674924"/>
            <a:ext cx="2209992" cy="381795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288632C-B0E4-BD48-10BA-CC3393BFF679}"/>
              </a:ext>
            </a:extLst>
          </p:cNvPr>
          <p:cNvSpPr/>
          <p:nvPr/>
        </p:nvSpPr>
        <p:spPr>
          <a:xfrm>
            <a:off x="858716" y="3041374"/>
            <a:ext cx="864704" cy="50689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0EB104-C9B4-ECFA-59AF-4FD3F2F650FD}"/>
              </a:ext>
            </a:extLst>
          </p:cNvPr>
          <p:cNvSpPr/>
          <p:nvPr/>
        </p:nvSpPr>
        <p:spPr>
          <a:xfrm>
            <a:off x="788505" y="5360505"/>
            <a:ext cx="864704" cy="50689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8C9E45-729F-BB3E-E14B-4BE2ACFD5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593" y="2767578"/>
            <a:ext cx="2750442" cy="17646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14C9A4-BB22-D870-B8F8-0B6BA9DEE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528" y="2712951"/>
            <a:ext cx="2900165" cy="18192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CA3122-48BE-A826-4D8E-FE098478B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985" y="4971443"/>
            <a:ext cx="3616625" cy="104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28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18279-E9A0-F772-8DD9-D96059B34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E4460BF-3642-CCBC-D3B4-6C9D1898D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6E239B0-1D98-12D7-702D-1D2ECB779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18C14F-704F-F39E-CC3F-15F03F75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Bibliography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851FF9-B1DF-1F58-6815-D44D2AC3F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F77D2C-4F59-E544-0EEB-50444B973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470C1-60D3-B801-FC60-8D48A253C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365124"/>
            <a:ext cx="6002636" cy="2089317"/>
          </a:xfrm>
        </p:spPr>
        <p:txBody>
          <a:bodyPr anchor="ctr">
            <a:normAutofit/>
          </a:bodyPr>
          <a:lstStyle/>
          <a:p>
            <a:r>
              <a:rPr lang="en-GB" sz="1800" dirty="0"/>
              <a:t>\bibliography{ref} is the command that compiles your bibliography based on references you have cited in your work. </a:t>
            </a:r>
          </a:p>
          <a:p>
            <a:r>
              <a:rPr lang="en-GB" sz="1800" dirty="0"/>
              <a:t>To cite a reference, you use \cite{label} where the label is the name you gave the reference in the .bib file.</a:t>
            </a:r>
          </a:p>
          <a:p>
            <a:r>
              <a:rPr lang="en-GB" sz="1800" dirty="0"/>
              <a:t>\</a:t>
            </a:r>
            <a:r>
              <a:rPr lang="en-GB" sz="1800" dirty="0" err="1"/>
              <a:t>bibliographystyle</a:t>
            </a:r>
            <a:r>
              <a:rPr lang="en-GB" sz="1800" dirty="0"/>
              <a:t>{} determines the layout of your references and how they appear in your text.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0E888-4F3D-F135-5450-C12448F1F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163" y="2941238"/>
            <a:ext cx="6997700" cy="323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571C41-DCAE-45D2-3FA4-9AE151549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30" y="4014437"/>
            <a:ext cx="3727379" cy="77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17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C424B-51EC-D07D-98EA-2B5A3C4D1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34A25E2-E642-6E28-3E51-44D7ACD09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BEBFA4A-983B-06EB-A4E0-D76D4A76F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7C9A2-D506-7C32-77A9-5F15FEFF3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Bibliography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877E61-6523-7EA7-C11C-341976E07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D6B6D7-3BDC-6613-CEDB-CF84BD558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184DA-2A37-7D86-E5BA-0ED45B1E0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365124"/>
            <a:ext cx="6002636" cy="2089317"/>
          </a:xfrm>
        </p:spPr>
        <p:txBody>
          <a:bodyPr anchor="ctr">
            <a:normAutofit/>
          </a:bodyPr>
          <a:lstStyle/>
          <a:p>
            <a:r>
              <a:rPr lang="en-GB" sz="1800" dirty="0"/>
              <a:t>Google Scholar will generate </a:t>
            </a:r>
            <a:r>
              <a:rPr lang="en-GB" sz="1800" dirty="0" err="1"/>
              <a:t>BibTeX</a:t>
            </a:r>
            <a:r>
              <a:rPr lang="en-GB" sz="1800" dirty="0"/>
              <a:t>  entries for any paper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8A1637-8E65-14B4-7E03-BAECC8D8C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7" y="2596404"/>
            <a:ext cx="8001000" cy="37243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27A341-DEC4-F3AD-9CF4-DF87BC54C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429" y="2603444"/>
            <a:ext cx="5551434" cy="3889431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3EA537E9-1E48-6B71-C2C1-0A9926280F72}"/>
              </a:ext>
            </a:extLst>
          </p:cNvPr>
          <p:cNvSpPr/>
          <p:nvPr/>
        </p:nvSpPr>
        <p:spPr>
          <a:xfrm>
            <a:off x="2355144" y="4084983"/>
            <a:ext cx="696169" cy="3537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794EE2D-7D5A-35BF-B7C3-22C4F3DF1876}"/>
              </a:ext>
            </a:extLst>
          </p:cNvPr>
          <p:cNvSpPr/>
          <p:nvPr/>
        </p:nvSpPr>
        <p:spPr>
          <a:xfrm>
            <a:off x="7453918" y="5967057"/>
            <a:ext cx="696169" cy="3537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421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4C776-C24E-8EA5-81CF-D6C5644A1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0F7D054-1891-BD75-39D1-DD5F1D5E3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AAF18E8-E500-9DDD-D8A5-A573630FF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D0D0C-7C69-B78B-23B2-1C595E48E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Lists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90C788-6773-B88A-CFCE-BD2E64AE2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91B012-8EF5-6EDE-EE0B-1C0E8C9BB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A98DB-6240-0FF3-C169-871CA0CC3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526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Use the \begin{itemize] command to create lists with bullet points</a:t>
            </a:r>
          </a:p>
          <a:p>
            <a:r>
              <a:rPr lang="en-GB" sz="1800" dirty="0"/>
              <a:t>Each bullet point is created using a \item command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C9BF3E-8209-313A-0D11-C41C2B520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128" y="2927511"/>
            <a:ext cx="3531398" cy="32998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95F412-C723-66AE-C201-D6B8C2C57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06" y="3019034"/>
            <a:ext cx="3045954" cy="276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79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6B599-60B5-F048-E6B0-6F0BF8FB2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7CD845E-ADA4-F1CE-A7A5-4C5FBE31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C94CE24-91C4-6717-0048-71A8A3964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0FEF8-F627-B027-DBFB-91283501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Equations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943FDA-5E15-EEBD-857A-C4706857C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9DFEE6-F19E-CEEF-7700-348840F96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904C8-4892-E438-EDAA-98B4D1CA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12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\begin{equation} opens a maths environment</a:t>
            </a:r>
          </a:p>
          <a:p>
            <a:r>
              <a:rPr lang="en-GB" sz="1800" dirty="0"/>
              <a:t>This allows the free use of math commands</a:t>
            </a:r>
          </a:p>
          <a:p>
            <a:r>
              <a:rPr lang="en-GB" sz="1800" dirty="0"/>
              <a:t>Equations will be automatically labelled and numbered</a:t>
            </a:r>
          </a:p>
          <a:p>
            <a:r>
              <a:rPr lang="en-GB" sz="1800" dirty="0"/>
              <a:t>Split allows multiple equations in one environment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418FF-8D0E-BF09-0682-B60F61ACF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17" y="2678303"/>
            <a:ext cx="3293381" cy="15013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B40A05-7BC5-A8F6-3C21-8C70E1CDA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188" y="2678303"/>
            <a:ext cx="2357691" cy="15831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51D446-66F0-1141-82C0-A621DAD3B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621" y="4485348"/>
            <a:ext cx="5905500" cy="850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4250EC-2A03-D9CD-7677-BCB26E09D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371" y="5336248"/>
            <a:ext cx="60960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735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80C61-9F4D-EEA6-718E-B6921C5BB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DE8CA15-DE02-8603-F9DD-A57A1C9CB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E6BBFD0-CDFF-C937-9155-4121F0B20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49FA4E-8FEC-8CFC-903E-4E56EC7D9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Equations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E52F02-AA05-2022-C6DD-33508A77E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7C9796-B725-492C-96C1-51662D83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0C2ED-4D24-C033-8DEA-978D5D388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808521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 err="1"/>
              <a:t>Mathpix</a:t>
            </a:r>
            <a:r>
              <a:rPr lang="en-GB" sz="1800" dirty="0"/>
              <a:t> can convert images of equations to LaTeX code</a:t>
            </a:r>
          </a:p>
          <a:p>
            <a:r>
              <a:rPr lang="en-GB" sz="1800" dirty="0"/>
              <a:t>Useful for long equations</a:t>
            </a:r>
          </a:p>
          <a:p>
            <a:r>
              <a:rPr lang="en-GB" sz="1800" dirty="0"/>
              <a:t>https://mathpix.com/image-to-latex</a:t>
            </a:r>
          </a:p>
          <a:p>
            <a:endParaRPr lang="en-GB" sz="1800" dirty="0"/>
          </a:p>
        </p:txBody>
      </p:sp>
      <p:pic>
        <p:nvPicPr>
          <p:cNvPr id="2050" name="Picture 2" descr="Image preview">
            <a:extLst>
              <a:ext uri="{FF2B5EF4-FFF2-40B4-BE49-F238E27FC236}">
                <a16:creationId xmlns:a16="http://schemas.microsoft.com/office/drawing/2014/main" id="{8CBA8437-8131-7209-6A8D-7A56411D4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871" y="2676138"/>
            <a:ext cx="7358535" cy="412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899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27088-3085-F066-977B-8E555953D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07CFC46-195C-B1C0-5562-8B7E2B32D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76B5F52-FDA4-2393-7661-AE31C6F13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AA2B1-23C2-A6D8-956A-CCDB269E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Tables	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E28E7A-38B2-9D29-8D39-E34A3A8EB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FD759F-6C4A-BAE9-6441-9FC94ACA6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7D752-9CA0-5EEE-3E56-DADD0DEC8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365124"/>
            <a:ext cx="6002636" cy="2089317"/>
          </a:xfrm>
        </p:spPr>
        <p:txBody>
          <a:bodyPr anchor="ctr">
            <a:normAutofit fontScale="92500"/>
          </a:bodyPr>
          <a:lstStyle/>
          <a:p>
            <a:r>
              <a:rPr lang="en-GB" sz="1800" dirty="0"/>
              <a:t>\begin{table} creates a list environment</a:t>
            </a:r>
          </a:p>
          <a:p>
            <a:r>
              <a:rPr lang="en-GB" sz="1800" dirty="0"/>
              <a:t>\begin{tabular}{|</a:t>
            </a:r>
            <a:r>
              <a:rPr lang="en-GB" sz="1800" dirty="0" err="1"/>
              <a:t>c|c</a:t>
            </a:r>
            <a:r>
              <a:rPr lang="en-GB" sz="1800" dirty="0"/>
              <a:t>|} creates your table</a:t>
            </a:r>
          </a:p>
          <a:p>
            <a:r>
              <a:rPr lang="en-GB" sz="1800" dirty="0"/>
              <a:t>c represents one column and | inserts lines between columns</a:t>
            </a:r>
          </a:p>
          <a:p>
            <a:r>
              <a:rPr lang="en-GB" sz="1800" dirty="0"/>
              <a:t>Data in a row is separated by &amp; and a new line is taken with \\</a:t>
            </a:r>
          </a:p>
          <a:p>
            <a:r>
              <a:rPr lang="en-GB" sz="1800" dirty="0"/>
              <a:t>\</a:t>
            </a:r>
            <a:r>
              <a:rPr lang="en-GB" sz="1800" dirty="0" err="1"/>
              <a:t>hline</a:t>
            </a:r>
            <a:r>
              <a:rPr lang="en-GB" sz="1800" dirty="0"/>
              <a:t> adds horizontal 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93580-42BD-1236-51D5-030E3F3EE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240" y="2634606"/>
            <a:ext cx="1920376" cy="3975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1C4649-90DC-9B0E-9AFA-64A9FAB1C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46" y="2634606"/>
            <a:ext cx="1676322" cy="3905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C2FE88-9DEC-1FF1-BC95-56B10A6E8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166" y="2625559"/>
            <a:ext cx="2463800" cy="355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A8CA71-EDE8-0912-100A-61482B0B9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132" y="2634606"/>
            <a:ext cx="23749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927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61F313-7EB7-35B5-9528-A3A7720D5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7D8E80A-C5DA-2563-D231-BC9E1607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3079FDB-A88E-C3B9-C8E2-C2DC17A14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D268A4-EBAC-DFBC-7B51-9DC99B5F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Figures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C42114-EB13-8056-DF9B-291FD2D92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1646CD-2B38-0F52-F02E-BC82AF70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5007F-6EA2-9EA1-D4DE-02A40BBC8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487017"/>
            <a:ext cx="6002636" cy="1967424"/>
          </a:xfrm>
        </p:spPr>
        <p:txBody>
          <a:bodyPr anchor="ctr">
            <a:normAutofit/>
          </a:bodyPr>
          <a:lstStyle/>
          <a:p>
            <a:r>
              <a:rPr lang="en-GB" sz="1800" dirty="0"/>
              <a:t>\begin{figure} allows you to insert images using \</a:t>
            </a:r>
            <a:r>
              <a:rPr lang="en-GB" sz="1800" dirty="0" err="1"/>
              <a:t>includegraphics</a:t>
            </a:r>
            <a:endParaRPr lang="en-GB" sz="1800" dirty="0"/>
          </a:p>
          <a:p>
            <a:r>
              <a:rPr lang="en-GB" sz="1800" dirty="0"/>
              <a:t>These will automatically be labelled as figures and be numbered</a:t>
            </a:r>
          </a:p>
          <a:p>
            <a:r>
              <a:rPr lang="en-GB" sz="1800" dirty="0"/>
              <a:t>By default, LaTeX will place images where they fit best. Use [h!] as alternative </a:t>
            </a:r>
            <a:endParaRPr lang="en-GB" sz="1800" dirty="0"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3E770F-E7DF-4876-BE24-A3A6A5CA5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14" y="5179063"/>
            <a:ext cx="5659186" cy="1547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B30DE8-DAC8-FB1A-D051-1AC9DEEBE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16" y="2676139"/>
            <a:ext cx="2410534" cy="229613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E8B2A310-E38C-CA44-3B5C-28E2CBCB6F7A}"/>
              </a:ext>
            </a:extLst>
          </p:cNvPr>
          <p:cNvSpPr/>
          <p:nvPr/>
        </p:nvSpPr>
        <p:spPr>
          <a:xfrm>
            <a:off x="904461" y="3026465"/>
            <a:ext cx="755374" cy="50689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8B39AD-7730-0863-4493-578428680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601" y="2819567"/>
            <a:ext cx="5394606" cy="344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116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B7796-B461-EE71-0830-6218E8EA8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B79225-8328-8AD4-6354-9A269BC65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EE8B949-15DB-3C05-C3EF-A78E75CAB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780170-7FA9-704A-04BA-285707698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Appendix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4104E6-85B1-1378-7E03-6FE9CE5E9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2330B2-264F-1724-A1D6-C11DDEB7B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EC0F-4EAA-AF8E-6ACD-4B0E1A010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365124"/>
            <a:ext cx="6002636" cy="2089317"/>
          </a:xfrm>
        </p:spPr>
        <p:txBody>
          <a:bodyPr anchor="ctr">
            <a:normAutofit/>
          </a:bodyPr>
          <a:lstStyle/>
          <a:p>
            <a:r>
              <a:rPr lang="en-GB" sz="1800" dirty="0"/>
              <a:t>By using the \appendix command new sections added are labelled by letters instead of numbers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995E07-9454-8458-088D-9D0F1C1A0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394" y="2597363"/>
            <a:ext cx="6855279" cy="3582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21DB7F-6FB0-2248-48DF-1CA6F925B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4835846"/>
            <a:ext cx="4800600" cy="1358900"/>
          </a:xfrm>
          <a:prstGeom prst="rect">
            <a:avLst/>
          </a:prstGeom>
        </p:spPr>
      </p:pic>
      <p:sp>
        <p:nvSpPr>
          <p:cNvPr id="11" name="Frame 10">
            <a:extLst>
              <a:ext uri="{FF2B5EF4-FFF2-40B4-BE49-F238E27FC236}">
                <a16:creationId xmlns:a16="http://schemas.microsoft.com/office/drawing/2014/main" id="{10B6B712-058A-7FBD-5954-C6E381C775C6}"/>
              </a:ext>
            </a:extLst>
          </p:cNvPr>
          <p:cNvSpPr/>
          <p:nvPr/>
        </p:nvSpPr>
        <p:spPr>
          <a:xfrm>
            <a:off x="4925394" y="5878286"/>
            <a:ext cx="1478426" cy="316460"/>
          </a:xfrm>
          <a:prstGeom prst="fram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36D8E3-31D1-5059-F8CD-8D33FE046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24" y="3195707"/>
            <a:ext cx="4026947" cy="159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103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E1775-02C2-01B4-CF9E-D7F1FCC81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FBC2644-07C5-4E01-13FA-5C093168D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4255B61-C765-9E8D-1ABB-90BDC4AE7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5A119-F82F-D08E-CD76-CCB70486D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Python code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3B31B3-8F88-5D90-C8C0-C60DFFF1C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024E62-E76C-0BEB-75CF-59A13C824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588F0-A3E6-4C8B-8D18-2F94FE938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365124"/>
            <a:ext cx="6002636" cy="2089317"/>
          </a:xfrm>
        </p:spPr>
        <p:txBody>
          <a:bodyPr anchor="ctr">
            <a:normAutofit/>
          </a:bodyPr>
          <a:lstStyle/>
          <a:p>
            <a:r>
              <a:rPr lang="en-GB" sz="1800" dirty="0"/>
              <a:t>Using the \begin{</a:t>
            </a:r>
            <a:r>
              <a:rPr lang="en-GB" sz="1800" dirty="0" err="1"/>
              <a:t>lstlisting</a:t>
            </a:r>
            <a:r>
              <a:rPr lang="en-GB" sz="1800" dirty="0"/>
              <a:t>} command we can have text appear like python using defined </a:t>
            </a:r>
            <a:r>
              <a:rPr lang="en-GB" sz="1800" dirty="0" err="1"/>
              <a:t>lst</a:t>
            </a:r>
            <a:r>
              <a:rPr lang="en-GB" sz="1800" dirty="0"/>
              <a:t> styles</a:t>
            </a:r>
          </a:p>
          <a:p>
            <a:r>
              <a:rPr lang="en-GB" sz="1800" dirty="0"/>
              <a:t>Using \</a:t>
            </a:r>
            <a:r>
              <a:rPr lang="en-GB" sz="1800" dirty="0" err="1"/>
              <a:t>lstlistinginput</a:t>
            </a:r>
            <a:r>
              <a:rPr lang="en-GB" sz="1800" dirty="0"/>
              <a:t>{file} we can insert certain lines or all of a file. </a:t>
            </a:r>
          </a:p>
          <a:p>
            <a:r>
              <a:rPr lang="en-GB" sz="1800" dirty="0"/>
              <a:t>Adding </a:t>
            </a:r>
            <a:r>
              <a:rPr lang="en-GB" sz="1800" dirty="0" err="1"/>
              <a:t>firstline</a:t>
            </a:r>
            <a:r>
              <a:rPr lang="en-GB" sz="1800" dirty="0"/>
              <a:t> =x and </a:t>
            </a:r>
            <a:r>
              <a:rPr lang="en-GB" sz="1800" dirty="0" err="1"/>
              <a:t>lastline</a:t>
            </a:r>
            <a:r>
              <a:rPr lang="en-GB" sz="1800" dirty="0"/>
              <a:t> = y after the language allows certain lines to be chosen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CE0EC5-1715-0E70-4A7D-9DADAD99F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179" y="2908329"/>
            <a:ext cx="4269604" cy="511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B60FFD-F362-9D3B-A8FB-6B3DFA811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354" y="4809521"/>
            <a:ext cx="7772400" cy="19510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EBEA0A-9C41-60DB-3893-EE24AA6A0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07" y="2548875"/>
            <a:ext cx="3597021" cy="42146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98C9BE-0955-0564-53CC-52AA60228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0830" y="2709273"/>
            <a:ext cx="2979246" cy="9930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1E25E4-5ECA-A8D5-49E3-50B707600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0830" y="4064803"/>
            <a:ext cx="5219922" cy="3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90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83133-F7A9-C507-C513-E672001B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E07EE93-353D-EB18-2FBA-C2DB7D5E2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8131300-04C4-9557-C47B-8CEF6EE27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F2964A-CE1B-CF64-E178-D0483601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Notes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5C950B-A81E-619F-B149-3AA060918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7FF001-5058-81F1-A384-5CF910C35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2F6EC-3B77-9ACE-7AD5-09B9227AB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808521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Overleaf has a large amount of user documentation on their website to help with many issues you may come across.</a:t>
            </a:r>
          </a:p>
          <a:p>
            <a:r>
              <a:rPr lang="en-GB" sz="1800" dirty="0" err="1"/>
              <a:t>TeX</a:t>
            </a:r>
            <a:r>
              <a:rPr lang="en-GB" sz="1800" dirty="0"/>
              <a:t> – LaTeX Stack Exchange can answer any other questions you may have.</a:t>
            </a:r>
          </a:p>
          <a:p>
            <a:r>
              <a:rPr lang="en-GB" sz="1800" dirty="0"/>
              <a:t>Overleaf allows collaboration on documents.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3B4E7C-1DD8-80FF-6CC0-8A64E74820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6"/>
          <a:stretch/>
        </p:blipFill>
        <p:spPr>
          <a:xfrm>
            <a:off x="554416" y="2767579"/>
            <a:ext cx="6002636" cy="360457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28DF36F-9478-7D72-9D29-5AEEAE16115E}"/>
              </a:ext>
            </a:extLst>
          </p:cNvPr>
          <p:cNvSpPr/>
          <p:nvPr/>
        </p:nvSpPr>
        <p:spPr>
          <a:xfrm>
            <a:off x="2170681" y="2676139"/>
            <a:ext cx="864704" cy="50689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946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057B9-C0D0-7DFE-F759-821630BE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0B85848-AD16-349E-34EF-C9BF87864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7E7A3D4-FC23-FFF8-7225-B099D14DA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9F3A4B-2A5E-55F8-54CE-A8D170D53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Thank you!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E57755-4FDA-8868-225A-954B1517D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0068FF-58AF-08F7-5798-86FB2FD2F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52F5C-B663-8F33-32D4-F74B12EFA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124" y="67826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Please fill out the feedback form below.</a:t>
            </a:r>
          </a:p>
          <a:p>
            <a:r>
              <a:rPr lang="en-GB" sz="1800" dirty="0"/>
              <a:t>Find the resources on my GitHub linked below</a:t>
            </a:r>
          </a:p>
        </p:txBody>
      </p:sp>
      <p:pic>
        <p:nvPicPr>
          <p:cNvPr id="4" name="Picture 2" descr="Image preview">
            <a:extLst>
              <a:ext uri="{FF2B5EF4-FFF2-40B4-BE49-F238E27FC236}">
                <a16:creationId xmlns:a16="http://schemas.microsoft.com/office/drawing/2014/main" id="{D39CABCB-5500-D839-5728-CD133A53C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870" y="2569579"/>
            <a:ext cx="4173284" cy="417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R code">
            <a:extLst>
              <a:ext uri="{FF2B5EF4-FFF2-40B4-BE49-F238E27FC236}">
                <a16:creationId xmlns:a16="http://schemas.microsoft.com/office/drawing/2014/main" id="{43A6B434-D896-D4CE-20CE-DD29291D2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294" y="2767579"/>
            <a:ext cx="3719623" cy="3719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562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13710</TotalTime>
  <Words>867</Words>
  <Application>Microsoft Macintosh PowerPoint</Application>
  <PresentationFormat>Widescreen</PresentationFormat>
  <Paragraphs>100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LaTeX Workshop</vt:lpstr>
      <vt:lpstr>What is LaTeX?</vt:lpstr>
      <vt:lpstr>How to create an Overleaf account.</vt:lpstr>
      <vt:lpstr>How to create an Overleaf account.</vt:lpstr>
      <vt:lpstr>Creating a Blank Document</vt:lpstr>
      <vt:lpstr>Document Class</vt:lpstr>
      <vt:lpstr>Packages</vt:lpstr>
      <vt:lpstr>Title, Date, Author</vt:lpstr>
      <vt:lpstr>Abstract and Table of Contents</vt:lpstr>
      <vt:lpstr>Sections</vt:lpstr>
      <vt:lpstr>Basic text formatting</vt:lpstr>
      <vt:lpstr>Referencing figures in text.</vt:lpstr>
      <vt:lpstr>References</vt:lpstr>
      <vt:lpstr>Bibliography</vt:lpstr>
      <vt:lpstr>Bibliography</vt:lpstr>
      <vt:lpstr>Lists</vt:lpstr>
      <vt:lpstr>Equations</vt:lpstr>
      <vt:lpstr>Equations</vt:lpstr>
      <vt:lpstr>Tables </vt:lpstr>
      <vt:lpstr>Figures</vt:lpstr>
      <vt:lpstr>Appendix</vt:lpstr>
      <vt:lpstr>Python code </vt:lpstr>
      <vt:lpstr>Notes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LaTeX Workshop</dc:title>
  <dc:creator>Ollie Cunningham</dc:creator>
  <cp:lastModifiedBy>Oliver Cunningham</cp:lastModifiedBy>
  <cp:revision>37</cp:revision>
  <dcterms:created xsi:type="dcterms:W3CDTF">2024-02-21T21:02:54Z</dcterms:created>
  <dcterms:modified xsi:type="dcterms:W3CDTF">2025-11-14T11:48:37Z</dcterms:modified>
</cp:coreProperties>
</file>