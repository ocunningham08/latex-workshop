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70" r:id="rId15"/>
    <p:sldId id="272" r:id="rId16"/>
    <p:sldId id="271" r:id="rId17"/>
    <p:sldId id="285" r:id="rId18"/>
    <p:sldId id="274" r:id="rId19"/>
    <p:sldId id="284" r:id="rId20"/>
    <p:sldId id="275" r:id="rId21"/>
    <p:sldId id="273" r:id="rId22"/>
    <p:sldId id="279" r:id="rId23"/>
    <p:sldId id="276" r:id="rId24"/>
    <p:sldId id="277" r:id="rId25"/>
    <p:sldId id="278" r:id="rId26"/>
    <p:sldId id="283" r:id="rId27"/>
    <p:sldId id="286" r:id="rId28"/>
    <p:sldId id="287" r:id="rId29"/>
    <p:sldId id="280" r:id="rId30"/>
    <p:sldId id="281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C841D66-88C6-C0E3-BF03-F1F8567D8E22}" v="69" dt="2024-02-27T14:38:33.36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912"/>
    <p:restoredTop sz="94658"/>
  </p:normalViewPr>
  <p:slideViewPr>
    <p:cSldViewPr snapToGrid="0">
      <p:cViewPr varScale="1">
        <p:scale>
          <a:sx n="87" d="100"/>
          <a:sy n="87" d="100"/>
        </p:scale>
        <p:origin x="200" y="9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uel Grant" userId="S::3052328@ads.qub.ac.uk::147124d1-7bb0-4bc1-ba10-3c9191cc0b43" providerId="AD" clId="Web-{6C841D66-88C6-C0E3-BF03-F1F8567D8E22}"/>
    <pc:docChg chg="modSld">
      <pc:chgData name="Samuel Grant" userId="S::3052328@ads.qub.ac.uk::147124d1-7bb0-4bc1-ba10-3c9191cc0b43" providerId="AD" clId="Web-{6C841D66-88C6-C0E3-BF03-F1F8567D8E22}" dt="2024-02-27T14:38:31.065" v="64" actId="20577"/>
      <pc:docMkLst>
        <pc:docMk/>
      </pc:docMkLst>
      <pc:sldChg chg="addSp delSp modSp">
        <pc:chgData name="Samuel Grant" userId="S::3052328@ads.qub.ac.uk::147124d1-7bb0-4bc1-ba10-3c9191cc0b43" providerId="AD" clId="Web-{6C841D66-88C6-C0E3-BF03-F1F8567D8E22}" dt="2024-02-27T14:36:29.842" v="52" actId="20577"/>
        <pc:sldMkLst>
          <pc:docMk/>
          <pc:sldMk cId="3782880984" sldId="260"/>
        </pc:sldMkLst>
        <pc:spChg chg="mod">
          <ac:chgData name="Samuel Grant" userId="S::3052328@ads.qub.ac.uk::147124d1-7bb0-4bc1-ba10-3c9191cc0b43" providerId="AD" clId="Web-{6C841D66-88C6-C0E3-BF03-F1F8567D8E22}" dt="2024-02-27T14:36:29.842" v="52" actId="20577"/>
          <ac:spMkLst>
            <pc:docMk/>
            <pc:sldMk cId="3782880984" sldId="260"/>
            <ac:spMk id="3" creationId="{3458CEFE-CF5A-47C4-72CA-4B8072A88068}"/>
          </ac:spMkLst>
        </pc:spChg>
        <pc:picChg chg="add del mod">
          <ac:chgData name="Samuel Grant" userId="S::3052328@ads.qub.ac.uk::147124d1-7bb0-4bc1-ba10-3c9191cc0b43" providerId="AD" clId="Web-{6C841D66-88C6-C0E3-BF03-F1F8567D8E22}" dt="2024-02-27T14:32:02.473" v="6"/>
          <ac:picMkLst>
            <pc:docMk/>
            <pc:sldMk cId="3782880984" sldId="260"/>
            <ac:picMk id="4" creationId="{C5976A4E-750D-E8A7-4D20-EEEE4C322149}"/>
          </ac:picMkLst>
        </pc:picChg>
        <pc:picChg chg="add mod">
          <ac:chgData name="Samuel Grant" userId="S::3052328@ads.qub.ac.uk::147124d1-7bb0-4bc1-ba10-3c9191cc0b43" providerId="AD" clId="Web-{6C841D66-88C6-C0E3-BF03-F1F8567D8E22}" dt="2024-02-27T14:34:05.118" v="11" actId="1076"/>
          <ac:picMkLst>
            <pc:docMk/>
            <pc:sldMk cId="3782880984" sldId="260"/>
            <ac:picMk id="5" creationId="{F2D7A596-56C0-4197-21C1-CC9A21AF24CF}"/>
          </ac:picMkLst>
        </pc:picChg>
        <pc:picChg chg="add mod">
          <ac:chgData name="Samuel Grant" userId="S::3052328@ads.qub.ac.uk::147124d1-7bb0-4bc1-ba10-3c9191cc0b43" providerId="AD" clId="Web-{6C841D66-88C6-C0E3-BF03-F1F8567D8E22}" dt="2024-02-27T14:35:45.762" v="13" actId="1076"/>
          <ac:picMkLst>
            <pc:docMk/>
            <pc:sldMk cId="3782880984" sldId="260"/>
            <ac:picMk id="6" creationId="{B14A89F0-289B-7D43-E0FF-7E1775A0F152}"/>
          </ac:picMkLst>
        </pc:picChg>
      </pc:sldChg>
      <pc:sldChg chg="modSp">
        <pc:chgData name="Samuel Grant" userId="S::3052328@ads.qub.ac.uk::147124d1-7bb0-4bc1-ba10-3c9191cc0b43" providerId="AD" clId="Web-{6C841D66-88C6-C0E3-BF03-F1F8567D8E22}" dt="2024-02-27T14:38:31.065" v="64" actId="20577"/>
        <pc:sldMkLst>
          <pc:docMk/>
          <pc:sldMk cId="1398116101" sldId="273"/>
        </pc:sldMkLst>
        <pc:spChg chg="mod">
          <ac:chgData name="Samuel Grant" userId="S::3052328@ads.qub.ac.uk::147124d1-7bb0-4bc1-ba10-3c9191cc0b43" providerId="AD" clId="Web-{6C841D66-88C6-C0E3-BF03-F1F8567D8E22}" dt="2024-02-27T14:38:31.065" v="64" actId="20577"/>
          <ac:spMkLst>
            <pc:docMk/>
            <pc:sldMk cId="1398116101" sldId="273"/>
            <ac:spMk id="3" creationId="{95A5007F-6EA2-9EA1-D4DE-02A40BBC8B1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EC2EFC-C2E5-4E7D-94AF-EFC6573611C5}" type="datetimeFigureOut">
              <a:rPr lang="en-GB" smtClean="0"/>
              <a:t>20/11/2024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F0809E-1D7D-429A-8521-6A722A25E9A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15740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0809E-1D7D-429A-8521-6A722A25E9AD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86115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Lots of premade templates. Institutional templates has good dissertation template.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0809E-1D7D-429A-8521-6A722A25E9AD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0890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Article on left, On right is report. Report has dedicated title page, dedicated abstract page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0809E-1D7D-429A-8521-6A722A25E9AD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50228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92A9B-1B64-C966-8905-DCF58CA5B6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9C58D8F-A33C-4A3E-F5F0-7056C8704B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5112CF-68AB-398E-00C1-07766A243A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97C6C-38B3-41C3-AF49-3204BA190E22}" type="datetimeFigureOut">
              <a:rPr lang="en-GB" smtClean="0"/>
              <a:t>20/11/2024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40367E-A697-1E17-48B0-241E286953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260F26-D87E-244F-D74B-AC378EDD0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2233A3-BCBC-469D-B788-F7F4ECFBDF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1645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A4BC2-6E60-F2FD-37AF-07D93F2A66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A10B17-9F44-98AC-901D-09EEE71C15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C6513A-36B9-C4C7-F2C6-9DB32A536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97C6C-38B3-41C3-AF49-3204BA190E22}" type="datetimeFigureOut">
              <a:rPr lang="en-GB" smtClean="0"/>
              <a:t>20/11/2024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FF0458-4C8F-7940-AC7A-5B07FDE137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7D2527-4817-63DC-B071-68937245B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2233A3-BCBC-469D-B788-F7F4ECFBDF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51213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22BF1F-B324-5C32-25B9-96A67CA5D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991E14-ED66-F1D1-7656-FB40626F75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F53FDF-B3E8-5F20-0AE0-2B12E1DAB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97C6C-38B3-41C3-AF49-3204BA190E22}" type="datetimeFigureOut">
              <a:rPr lang="en-GB" smtClean="0"/>
              <a:t>20/11/2024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D1B675-E705-C737-770A-4217D52F43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2F07E4-B257-3D77-5517-31AE8D45B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2233A3-BCBC-469D-B788-F7F4ECFBDF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1165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123519-205F-5702-920A-26B3F4071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1D9D97-8CB5-5740-C08B-6B276A52401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D498AD-D212-0979-0337-B097B6B69E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4DC5B1-3A09-4789-2DD7-E155D1E3E2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97C6C-38B3-41C3-AF49-3204BA190E22}" type="datetimeFigureOut">
              <a:rPr lang="en-GB" smtClean="0"/>
              <a:t>20/11/2024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B5F702-4355-9688-0D54-59C9AA6FB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4F956B-D8F9-B1DC-E3AE-356D468EB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2233A3-BCBC-469D-B788-F7F4ECFBDF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54231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DBA79F-F160-A26D-0EEF-5E0FD99988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384A90-3E7B-7B91-F423-8C8EE8F209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55CE39-9821-1B7E-532A-ED66C0B883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E3B4A31-317C-014B-C438-1C321DEC31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05AA9C1-F73B-F4BD-8072-80A5F16A9E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6E2D23-6E32-8015-D762-DC2B519BF0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97C6C-38B3-41C3-AF49-3204BA190E22}" type="datetimeFigureOut">
              <a:rPr lang="en-GB" smtClean="0"/>
              <a:t>20/11/2024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DFD081E-8AC8-7287-E85C-B8A875F185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954AFB-BF91-C573-D316-8711FB360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2233A3-BCBC-469D-B788-F7F4ECFBDF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7120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5AFB7-CA9C-D5D8-A737-18D739E6F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1EBC97-C044-CA66-A54E-1609AFFF7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97C6C-38B3-41C3-AF49-3204BA190E22}" type="datetimeFigureOut">
              <a:rPr lang="en-GB" smtClean="0"/>
              <a:t>20/11/2024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4F6CEE-B422-D063-8912-214501337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0281DB-A7BC-D5F3-BFF4-F048C6B37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2233A3-BCBC-469D-B788-F7F4ECFBDF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05161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0AF421B-0409-4B09-C92D-C330BE39E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97C6C-38B3-41C3-AF49-3204BA190E22}" type="datetimeFigureOut">
              <a:rPr lang="en-GB" smtClean="0"/>
              <a:t>20/11/2024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36A0799-89D9-3887-4B23-FE3FAAB0E7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1603C3-7807-2F90-F906-E6B7A8578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2233A3-BCBC-469D-B788-F7F4ECFBDF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757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581B2-7B21-AC5B-9A9A-6A9268CEFD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DB0DC9-899C-0B7A-7A5B-8C77D240B8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66FC00-B760-C8F7-2E27-0A0059A9C7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95CCEC-8109-8032-C1AA-83DDCDE55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97C6C-38B3-41C3-AF49-3204BA190E22}" type="datetimeFigureOut">
              <a:rPr lang="en-GB" smtClean="0"/>
              <a:t>20/11/2024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89B58C-71E6-A487-7F48-FA9E55A8CE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7EA7DC-4D38-C31B-F9EF-B0A2B17D19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2233A3-BCBC-469D-B788-F7F4ECFBDF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95117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3781C-DD9D-486A-7165-08F04ED8C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9CA5406-95FB-DAB8-B6B8-3FA44D5889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863462-2835-D725-F031-AAC7D70EDD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EDDFD7-DC59-116A-33F8-510B363FFB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97C6C-38B3-41C3-AF49-3204BA190E22}" type="datetimeFigureOut">
              <a:rPr lang="en-GB" smtClean="0"/>
              <a:t>20/11/2024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5262BC-AF0A-C35A-AAD2-50DBFB98E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A96712-6972-339E-1CB3-ACDF8F18F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2233A3-BCBC-469D-B788-F7F4ECFBDF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54842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CE7F3-A8F8-2B5C-159C-3EF537D4C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B497EE-AE1D-E29C-3771-C6DDCFCB9E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991428-452B-902C-338F-2BC3151BF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97C6C-38B3-41C3-AF49-3204BA190E22}" type="datetimeFigureOut">
              <a:rPr lang="en-GB" smtClean="0"/>
              <a:t>20/11/2024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DFA71D-4F0B-0A4F-6194-85F19E5879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AF93E5-2F86-B0D4-75EE-5F06A9A37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2233A3-BCBC-469D-B788-F7F4ECFBDF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61179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5F6A21A-8457-F25F-8727-EE6CFE6C9A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7E0B20-7EAA-9FF8-0C35-C73C30BF44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C81820-4340-CA09-A15C-B94FA5815E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97C6C-38B3-41C3-AF49-3204BA190E22}" type="datetimeFigureOut">
              <a:rPr lang="en-GB" smtClean="0"/>
              <a:t>20/11/2024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309EF4-005B-0CC1-C558-20BA5F8439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4861CA-EA8C-4A4D-41F6-7C97D61F5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2233A3-BCBC-469D-B788-F7F4ECFBDF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03246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484B84B-BFBB-2E62-0F22-A849E1212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DDBE8C-34B3-9B36-2436-F5A9E55CFA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08E384-9312-6838-F63F-230A90587E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997C6C-38B3-41C3-AF49-3204BA190E22}" type="datetimeFigureOut">
              <a:rPr lang="en-GB" smtClean="0"/>
              <a:t>20/11/2024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0472F2-8C98-498A-EA07-7BB28A7932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32621A-0FB0-44F6-C209-63D2EB7777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2233A3-BCBC-469D-B788-F7F4ECFBDF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671022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www.overleaf.com/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i.ytimg.com/vi/6Rv3RFrB6k8/maxresdefault.jpg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7" Type="http://schemas.openxmlformats.org/officeDocument/2006/relationships/image" Target="../media/image47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BAD76F3E-3A97-486B-B402-44400A8B91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40073D-2C6B-B11A-F2F7-F1436522A6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093788"/>
            <a:ext cx="10506455" cy="2967208"/>
          </a:xfrm>
        </p:spPr>
        <p:txBody>
          <a:bodyPr>
            <a:normAutofit/>
          </a:bodyPr>
          <a:lstStyle/>
          <a:p>
            <a:pPr algn="l"/>
            <a:r>
              <a:rPr lang="en-GB" sz="8000" dirty="0"/>
              <a:t>LaTeX Workshop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104C9D-D882-CE61-ABAD-3A0532712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407022" y="4421273"/>
            <a:ext cx="3946779" cy="1038225"/>
          </a:xfrm>
        </p:spPr>
        <p:txBody>
          <a:bodyPr>
            <a:normAutofit/>
          </a:bodyPr>
          <a:lstStyle/>
          <a:p>
            <a:pPr algn="r"/>
            <a:r>
              <a:rPr lang="en-GB" dirty="0"/>
              <a:t>20/11/24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91F6B52-91F4-4AEB-B6DB-29FEBCF28C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4331166"/>
            <a:ext cx="10506456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CD6F061-7C53-44F4-9794-953DB70A45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9346882" y="2348839"/>
            <a:ext cx="54864" cy="394677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050" name="Picture 2" descr="Institute of Physics IOP logo — Vitae Website">
            <a:extLst>
              <a:ext uri="{FF2B5EF4-FFF2-40B4-BE49-F238E27FC236}">
                <a16:creationId xmlns:a16="http://schemas.microsoft.com/office/drawing/2014/main" id="{2EBA2995-6EF1-258F-88A5-473F59FA29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199" y="4735598"/>
            <a:ext cx="2571750" cy="1447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23D169F-E2EC-8895-1621-B80B666C6A6D}"/>
              </a:ext>
            </a:extLst>
          </p:cNvPr>
          <p:cNvSpPr txBox="1"/>
          <p:nvPr/>
        </p:nvSpPr>
        <p:spPr>
          <a:xfrm>
            <a:off x="3706761" y="4735598"/>
            <a:ext cx="630247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Oliver Cunningham </a:t>
            </a:r>
          </a:p>
          <a:p>
            <a:r>
              <a:rPr lang="en-GB" sz="2400" dirty="0"/>
              <a:t>IOP Campus Ambassador</a:t>
            </a:r>
          </a:p>
          <a:p>
            <a:r>
              <a:rPr lang="en-GB" sz="2400" dirty="0"/>
              <a:t>IOP Student Community Panel Ireland</a:t>
            </a:r>
          </a:p>
          <a:p>
            <a:r>
              <a:rPr lang="en-GB" sz="2400" dirty="0"/>
              <a:t>Queen’s University Belfast</a:t>
            </a:r>
          </a:p>
        </p:txBody>
      </p:sp>
    </p:spTree>
    <p:extLst>
      <p:ext uri="{BB962C8B-B14F-4D97-AF65-F5344CB8AC3E}">
        <p14:creationId xmlns:p14="http://schemas.microsoft.com/office/powerpoint/2010/main" val="21723514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2550BE34-C2B8-49B8-8519-67A8CAD51A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A7457DD9-5A45-400A-AB4B-4B4EDECA25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416" y="365125"/>
            <a:ext cx="11167447" cy="2089317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A1F164-87D5-11A8-CBC3-EDEE72504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746" y="586822"/>
            <a:ext cx="3560252" cy="1645920"/>
          </a:xfrm>
        </p:spPr>
        <p:txBody>
          <a:bodyPr>
            <a:normAutofit/>
          </a:bodyPr>
          <a:lstStyle/>
          <a:p>
            <a:r>
              <a:rPr lang="en-GB" sz="3200" dirty="0"/>
              <a:t>What is LaTeX?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41CF7D6-A660-431A-B0BB-140A0D5556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08" y="105773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570A85B-3810-4F95-97B0-CBF4CCDB38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43541" y="1400638"/>
            <a:ext cx="14630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F1354-1210-21A3-986A-5594A85517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1164" y="586822"/>
            <a:ext cx="6002636" cy="1645920"/>
          </a:xfrm>
        </p:spPr>
        <p:txBody>
          <a:bodyPr anchor="ctr">
            <a:normAutofit/>
          </a:bodyPr>
          <a:lstStyle/>
          <a:p>
            <a:r>
              <a:rPr lang="en-GB" sz="1800" b="0" i="0" dirty="0">
                <a:effectLst/>
              </a:rPr>
              <a:t>LaTeX is a high-quality typesetting system; it includes features designed for the production of technical and scientific documentation.</a:t>
            </a:r>
          </a:p>
          <a:p>
            <a:r>
              <a:rPr lang="en-GB" sz="1800" b="0" i="0" dirty="0">
                <a:effectLst/>
              </a:rPr>
              <a:t>LaTeX is the de facto standard for the communication and publication of scientific documents.</a:t>
            </a:r>
            <a:endParaRPr lang="en-GB" sz="1800" b="0" i="0" baseline="30000" dirty="0">
              <a:effectLst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3540D223-B918-0E2B-D684-3D5365C33F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53108" y="2734056"/>
            <a:ext cx="9174175" cy="3483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12682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2C01B3-B888-6CF2-E556-8EDB52469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F100E28C-F006-AC3A-FBDA-8999A4AF7B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9487856C-7F83-F120-4573-D125DE8B66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416" y="365125"/>
            <a:ext cx="11167447" cy="2089317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63A6DB-EF09-C335-50EC-5667D4F85A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746" y="586822"/>
            <a:ext cx="3560252" cy="1645920"/>
          </a:xfrm>
        </p:spPr>
        <p:txBody>
          <a:bodyPr>
            <a:normAutofit/>
          </a:bodyPr>
          <a:lstStyle/>
          <a:p>
            <a:r>
              <a:rPr lang="en-GB" sz="3200" dirty="0"/>
              <a:t>Why is LaTeX useful?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00B5845-8DD1-D01B-3451-5F04301F5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08" y="105773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1D80175-2810-312E-B33C-9727DE6F12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43541" y="1400638"/>
            <a:ext cx="14630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BF551A-1FFC-F069-57BF-DD28E42AF8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1716" y="808521"/>
            <a:ext cx="6002636" cy="1645920"/>
          </a:xfrm>
        </p:spPr>
        <p:txBody>
          <a:bodyPr anchor="ctr">
            <a:normAutofit/>
          </a:bodyPr>
          <a:lstStyle/>
          <a:p>
            <a:r>
              <a:rPr lang="en-GB" sz="1800" b="0" i="0" dirty="0">
                <a:effectLst/>
              </a:rPr>
              <a:t>LaTeX allows a large amount of control over the formatting of documents.</a:t>
            </a:r>
          </a:p>
          <a:p>
            <a:r>
              <a:rPr lang="en-GB" sz="1800" dirty="0"/>
              <a:t>Easy to save templates for different types of documents. </a:t>
            </a:r>
          </a:p>
          <a:p>
            <a:r>
              <a:rPr lang="en-GB" sz="1800" dirty="0"/>
              <a:t>It is especially useful for formatting mathematical formulae and references.</a:t>
            </a:r>
          </a:p>
          <a:p>
            <a:endParaRPr lang="en-GB" sz="1800" b="0" i="0" baseline="30000" dirty="0">
              <a:effectLst/>
              <a:latin typeface="roboto_light"/>
            </a:endParaRPr>
          </a:p>
          <a:p>
            <a:endParaRPr lang="en-GB" sz="1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FC75B6E-F06F-9922-24DC-A3B6B9E8241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35251"/>
          <a:stretch/>
        </p:blipFill>
        <p:spPr>
          <a:xfrm>
            <a:off x="1762133" y="2582404"/>
            <a:ext cx="8752011" cy="4147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41420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945D77-9C51-5B28-6669-96609919A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CBDFC69D-637C-BD5B-CFEB-953652D2C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EE2D6076-4152-FFA8-E344-B596B776BC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416" y="365125"/>
            <a:ext cx="11167447" cy="2089317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8B190D5-DFC2-3DCC-AF62-D223632EB4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746" y="586822"/>
            <a:ext cx="3560252" cy="1645920"/>
          </a:xfrm>
        </p:spPr>
        <p:txBody>
          <a:bodyPr>
            <a:normAutofit/>
          </a:bodyPr>
          <a:lstStyle/>
          <a:p>
            <a:r>
              <a:rPr lang="en-GB" sz="3200" dirty="0"/>
              <a:t>How the IOP can help with LaTeX?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D362C54-97B6-8F97-31F4-8E71A42146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08" y="105773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D9E7AA8-4E54-840B-3A28-0D589718E4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43541" y="1400638"/>
            <a:ext cx="14630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E863DE-27A7-5734-81D9-4DC07067AA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27669" y="542342"/>
            <a:ext cx="6002636" cy="1645920"/>
          </a:xfrm>
        </p:spPr>
        <p:txBody>
          <a:bodyPr anchor="ctr">
            <a:normAutofit fontScale="92500" lnSpcReduction="10000"/>
          </a:bodyPr>
          <a:lstStyle/>
          <a:p>
            <a:r>
              <a:rPr lang="en-GB" sz="1800" dirty="0"/>
              <a:t>They organise LaTeX workshops for students.</a:t>
            </a:r>
          </a:p>
          <a:p>
            <a:r>
              <a:rPr lang="en-GB" sz="1800" dirty="0"/>
              <a:t>Workshops on 28/11/24 &amp; 05/12/24</a:t>
            </a:r>
          </a:p>
          <a:p>
            <a:r>
              <a:rPr lang="en-GB" sz="1800" dirty="0"/>
              <a:t>Sign up at https://</a:t>
            </a:r>
            <a:r>
              <a:rPr lang="en-GB" sz="1800" dirty="0" err="1"/>
              <a:t>www.smartsurvey.co.uk</a:t>
            </a:r>
            <a:r>
              <a:rPr lang="en-GB" sz="1800" dirty="0"/>
              <a:t>/s/R0I2JJ/</a:t>
            </a:r>
          </a:p>
          <a:p>
            <a:r>
              <a:rPr lang="en-GB" sz="1800" dirty="0"/>
              <a:t>These can be accessed on their website.</a:t>
            </a:r>
          </a:p>
          <a:p>
            <a:r>
              <a:rPr lang="en-GB" sz="1800" dirty="0"/>
              <a:t>Student associate membership is £15 per year.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96A5DA8-7D8D-B25B-B812-2ED25B2B4EF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0698" r="15199"/>
          <a:stretch/>
        </p:blipFill>
        <p:spPr>
          <a:xfrm>
            <a:off x="0" y="2676138"/>
            <a:ext cx="7285703" cy="412094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7E6548B-15BF-DB8D-FF5C-DF010DB072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9488" y="3103094"/>
            <a:ext cx="4638727" cy="3267030"/>
          </a:xfrm>
          <a:prstGeom prst="rect">
            <a:avLst/>
          </a:prstGeom>
        </p:spPr>
      </p:pic>
      <p:sp>
        <p:nvSpPr>
          <p:cNvPr id="9" name="Oval 8">
            <a:extLst>
              <a:ext uri="{FF2B5EF4-FFF2-40B4-BE49-F238E27FC236}">
                <a16:creationId xmlns:a16="http://schemas.microsoft.com/office/drawing/2014/main" id="{D5AD87D5-B70C-3C36-418C-7078152D7379}"/>
              </a:ext>
            </a:extLst>
          </p:cNvPr>
          <p:cNvSpPr/>
          <p:nvPr/>
        </p:nvSpPr>
        <p:spPr>
          <a:xfrm>
            <a:off x="7419488" y="3539613"/>
            <a:ext cx="4638727" cy="648929"/>
          </a:xfrm>
          <a:prstGeom prst="ellipse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EEF94AC-7926-B03D-DA4D-584ABC5AF744}"/>
              </a:ext>
            </a:extLst>
          </p:cNvPr>
          <p:cNvSpPr/>
          <p:nvPr/>
        </p:nvSpPr>
        <p:spPr>
          <a:xfrm>
            <a:off x="7285703" y="5606902"/>
            <a:ext cx="4638727" cy="648929"/>
          </a:xfrm>
          <a:prstGeom prst="ellipse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46887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AF1314-7DC3-F345-3549-3728225994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AE9BBCDA-D8F8-0768-9164-EF8F7467EB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098E22D0-3E64-8EAB-DB44-2363C610D6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416" y="365125"/>
            <a:ext cx="11167447" cy="2089317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7199DBC-7727-9301-7B0F-2BEC4BEDF6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746" y="586822"/>
            <a:ext cx="3560252" cy="1645920"/>
          </a:xfrm>
        </p:spPr>
        <p:txBody>
          <a:bodyPr>
            <a:normAutofit/>
          </a:bodyPr>
          <a:lstStyle/>
          <a:p>
            <a:r>
              <a:rPr lang="en-GB" sz="3200" dirty="0"/>
              <a:t>How is LaTeX used by different people?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DCB627D-0ADB-0828-729A-E6A2BDF17D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08" y="105773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670B82D-CF12-1172-A6B4-1350A97950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43541" y="1400638"/>
            <a:ext cx="14630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58CEFE-CF5A-47C4-72CA-4B8072A880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1716" y="808521"/>
            <a:ext cx="6002636" cy="1645920"/>
          </a:xfrm>
        </p:spPr>
        <p:txBody>
          <a:bodyPr anchor="ctr">
            <a:normAutofit/>
          </a:bodyPr>
          <a:lstStyle/>
          <a:p>
            <a:r>
              <a:rPr lang="en-GB" sz="1800" dirty="0"/>
              <a:t>Dr Samuel Grant – Astrophysics Research Centre</a:t>
            </a:r>
          </a:p>
          <a:p>
            <a:r>
              <a:rPr lang="en-GB" sz="1800" dirty="0"/>
              <a:t>Scientific articles, lecture notes, grant proposals</a:t>
            </a:r>
            <a:endParaRPr lang="en-GB" sz="1800" dirty="0">
              <a:cs typeface="Calibri"/>
            </a:endParaRPr>
          </a:p>
          <a:p>
            <a:r>
              <a:rPr lang="en-GB" sz="1800" dirty="0">
                <a:cs typeface="Calibri"/>
              </a:rPr>
              <a:t>Best way to weave text, table and maths together</a:t>
            </a:r>
          </a:p>
        </p:txBody>
      </p:sp>
      <p:pic>
        <p:nvPicPr>
          <p:cNvPr id="5" name="Picture 4" descr="A screenshot of a math problem&#10;&#10;Description automatically generated">
            <a:extLst>
              <a:ext uri="{FF2B5EF4-FFF2-40B4-BE49-F238E27FC236}">
                <a16:creationId xmlns:a16="http://schemas.microsoft.com/office/drawing/2014/main" id="{F2D7A596-56C0-4197-21C1-CC9A21AF24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1774" y="2604836"/>
            <a:ext cx="4243137" cy="4054643"/>
          </a:xfrm>
          <a:prstGeom prst="rect">
            <a:avLst/>
          </a:prstGeom>
        </p:spPr>
      </p:pic>
      <p:pic>
        <p:nvPicPr>
          <p:cNvPr id="6" name="Picture 5" descr="A screenshot of a document&#10;&#10;Description automatically generated">
            <a:extLst>
              <a:ext uri="{FF2B5EF4-FFF2-40B4-BE49-F238E27FC236}">
                <a16:creationId xmlns:a16="http://schemas.microsoft.com/office/drawing/2014/main" id="{B14A89F0-289B-7D43-E0FF-7E1775A0F1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6845" y="2604837"/>
            <a:ext cx="3625258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28809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06C5A17-258B-3324-199D-B3B097A722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033FC662-C84F-B71E-6741-8A455F0D21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ABFD6363-DD18-BD4B-B7B9-E1F9927513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416" y="365125"/>
            <a:ext cx="11167447" cy="2089317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12EF56A-CA81-77A6-38D4-398BF5DDDF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746" y="586822"/>
            <a:ext cx="3560252" cy="1645920"/>
          </a:xfrm>
        </p:spPr>
        <p:txBody>
          <a:bodyPr>
            <a:normAutofit/>
          </a:bodyPr>
          <a:lstStyle/>
          <a:p>
            <a:r>
              <a:rPr lang="en-GB" sz="3200" dirty="0"/>
              <a:t>How is LaTeX used by different people?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D291D53-868D-CFB3-4B7C-1610DE77D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08" y="105773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07F44DB-9EC3-BA23-C729-419ECF175E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43541" y="1400638"/>
            <a:ext cx="14630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D021E3-582C-DB6A-0963-6C34B56BAD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1716" y="808521"/>
            <a:ext cx="6002636" cy="1645920"/>
          </a:xfrm>
        </p:spPr>
        <p:txBody>
          <a:bodyPr anchor="ctr">
            <a:normAutofit/>
          </a:bodyPr>
          <a:lstStyle/>
          <a:p>
            <a:r>
              <a:rPr lang="en-GB" sz="1800" dirty="0"/>
              <a:t>Student</a:t>
            </a:r>
          </a:p>
          <a:p>
            <a:r>
              <a:rPr lang="en-GB" sz="1800" dirty="0" err="1"/>
              <a:t>MSci</a:t>
            </a:r>
            <a:r>
              <a:rPr lang="en-GB" sz="1800" dirty="0"/>
              <a:t> Physics Grad</a:t>
            </a:r>
          </a:p>
          <a:p>
            <a:r>
              <a:rPr lang="en-GB" sz="1800" dirty="0"/>
              <a:t>1</a:t>
            </a:r>
            <a:r>
              <a:rPr lang="en-GB" sz="1800" baseline="30000" dirty="0"/>
              <a:t>st</a:t>
            </a:r>
            <a:r>
              <a:rPr lang="en-GB" sz="1800" dirty="0"/>
              <a:t> Year PhD Student</a:t>
            </a:r>
          </a:p>
          <a:p>
            <a:r>
              <a:rPr lang="en-GB" sz="1800" dirty="0"/>
              <a:t>Lab reports, thesis, notes, meeting minutes</a:t>
            </a:r>
          </a:p>
          <a:p>
            <a:endParaRPr lang="en-GB" sz="1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EADD10F-EB6A-B73E-E77B-CDB94CC4BDD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31901"/>
          <a:stretch/>
        </p:blipFill>
        <p:spPr>
          <a:xfrm>
            <a:off x="332988" y="2676139"/>
            <a:ext cx="5662151" cy="404271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7348DFB-0396-2EFA-9356-F7B7DC0A15B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28409"/>
          <a:stretch/>
        </p:blipFill>
        <p:spPr>
          <a:xfrm>
            <a:off x="6196863" y="2676139"/>
            <a:ext cx="5654530" cy="4042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2387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C4BB07-900E-BD1B-5C36-1E5CD8FC48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CE6D635C-2568-F70B-86EC-42C613E2B1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09E39247-53B7-BA4F-3DB2-AFC348D785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416" y="365125"/>
            <a:ext cx="11167447" cy="2089317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305EC9-BFC3-BC9A-070E-3127C4797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746" y="586822"/>
            <a:ext cx="3560252" cy="1645920"/>
          </a:xfrm>
        </p:spPr>
        <p:txBody>
          <a:bodyPr>
            <a:normAutofit/>
          </a:bodyPr>
          <a:lstStyle/>
          <a:p>
            <a:r>
              <a:rPr lang="en-GB" sz="3200" dirty="0"/>
              <a:t>Other examples of how LaTeX can be used.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7B7FE48-1B62-9314-1086-070FEEE64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08" y="105773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4E5B1C5-839A-5099-AE1D-E081269081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43541" y="1400638"/>
            <a:ext cx="14630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AE9F33-63B9-D56F-4037-36BD45A475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1716" y="586822"/>
            <a:ext cx="6002636" cy="1645920"/>
          </a:xfrm>
        </p:spPr>
        <p:txBody>
          <a:bodyPr anchor="ctr">
            <a:normAutofit/>
          </a:bodyPr>
          <a:lstStyle/>
          <a:p>
            <a:r>
              <a:rPr lang="en-GB" sz="1800" dirty="0"/>
              <a:t>Presentations.</a:t>
            </a:r>
          </a:p>
          <a:p>
            <a:r>
              <a:rPr lang="en-GB" sz="1800" dirty="0"/>
              <a:t>CV.</a:t>
            </a:r>
          </a:p>
          <a:p>
            <a:r>
              <a:rPr lang="en-GB" sz="1800" dirty="0"/>
              <a:t>Lecture slides.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3FBA59-2CEB-FED2-2E0E-81C286594FA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10757"/>
          <a:stretch/>
        </p:blipFill>
        <p:spPr>
          <a:xfrm>
            <a:off x="490408" y="2781637"/>
            <a:ext cx="5631668" cy="391733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FEB8941-591C-172D-62CE-230E8151BD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1204" y="2636948"/>
            <a:ext cx="5631668" cy="4206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2077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02881B-FBA9-5E26-D99A-D74EFCC5D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4A79EAE9-ADC3-2E87-B9FD-18C2EC3DB5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560642A9-AD04-208F-9D77-BB7AF5CFA7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416" y="365125"/>
            <a:ext cx="11167447" cy="2089317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2FD7AA-0FA0-B034-E4AF-EEC30E2AC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746" y="586822"/>
            <a:ext cx="3560252" cy="1645920"/>
          </a:xfrm>
        </p:spPr>
        <p:txBody>
          <a:bodyPr>
            <a:normAutofit/>
          </a:bodyPr>
          <a:lstStyle/>
          <a:p>
            <a:r>
              <a:rPr lang="en-GB" sz="3200" dirty="0"/>
              <a:t>What is Overleaf?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48FA8F3-2CBB-1DB5-CAD2-A0A06EDC71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08" y="105773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C812F32-AE7E-A1ED-14E7-A90C924BC4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43541" y="1400638"/>
            <a:ext cx="14630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7FF134-3DF8-40BB-76E8-73EFFE50A6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1716" y="808521"/>
            <a:ext cx="6002636" cy="1645920"/>
          </a:xfrm>
        </p:spPr>
        <p:txBody>
          <a:bodyPr anchor="ctr">
            <a:normAutofit/>
          </a:bodyPr>
          <a:lstStyle/>
          <a:p>
            <a:r>
              <a:rPr lang="en-GB" sz="1800" dirty="0"/>
              <a:t>Free browser-based LaTeX editor.</a:t>
            </a:r>
          </a:p>
          <a:p>
            <a:r>
              <a:rPr lang="en-GB" sz="1800" dirty="0"/>
              <a:t>Access to a premium account is free for QUB students.</a:t>
            </a:r>
          </a:p>
          <a:p>
            <a:endParaRPr lang="en-GB" sz="1800" dirty="0"/>
          </a:p>
        </p:txBody>
      </p:sp>
      <p:pic>
        <p:nvPicPr>
          <p:cNvPr id="3076" name="Picture 4" descr="Research Lifecycle Programme | Overleaf Feedback">
            <a:extLst>
              <a:ext uri="{FF2B5EF4-FFF2-40B4-BE49-F238E27FC236}">
                <a16:creationId xmlns:a16="http://schemas.microsoft.com/office/drawing/2014/main" id="{D84BD5C2-9105-A900-5A07-26C6BCD137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0408" y="2584698"/>
            <a:ext cx="11167447" cy="3697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990057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1593AE-6950-024F-A51A-C1198B0A3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95E177E7-033E-2CE4-0BE3-7B35442518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801EF07A-2D95-0F76-95DD-B28A36BB73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416" y="365125"/>
            <a:ext cx="11167447" cy="2089317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16DD2C-32C1-9E2D-9F3F-77FEBF08A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746" y="586822"/>
            <a:ext cx="3560252" cy="1645920"/>
          </a:xfrm>
        </p:spPr>
        <p:txBody>
          <a:bodyPr>
            <a:normAutofit/>
          </a:bodyPr>
          <a:lstStyle/>
          <a:p>
            <a:r>
              <a:rPr lang="en-GB" sz="3200" dirty="0"/>
              <a:t>How to create an Overleaf account.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DD08AB6-42AF-AF62-3504-574D71242A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08" y="105773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24A9670-C74C-FF96-4B7C-CAE394634C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43541" y="1400638"/>
            <a:ext cx="14630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8FD943-10DC-8C06-6C98-1A9175EC5E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1716" y="626277"/>
            <a:ext cx="6002636" cy="1645920"/>
          </a:xfrm>
        </p:spPr>
        <p:txBody>
          <a:bodyPr anchor="ctr">
            <a:normAutofit/>
          </a:bodyPr>
          <a:lstStyle/>
          <a:p>
            <a:r>
              <a:rPr lang="en-GB" sz="1800" dirty="0"/>
              <a:t>Go to </a:t>
            </a:r>
            <a:r>
              <a:rPr lang="en-GB" sz="1800" dirty="0">
                <a:hlinkClick r:id="rId2"/>
              </a:rPr>
              <a:t>https://www.overleaf.com</a:t>
            </a:r>
            <a:endParaRPr lang="en-GB" sz="1800" dirty="0"/>
          </a:p>
          <a:p>
            <a:r>
              <a:rPr lang="en-GB" sz="1800" dirty="0"/>
              <a:t>Select sign up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DF5235-49FC-D914-ECCA-55D5BF468F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869" y="2767579"/>
            <a:ext cx="10632261" cy="3595040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D063E55E-41FA-C2BE-E776-1A30B429BF1C}"/>
              </a:ext>
            </a:extLst>
          </p:cNvPr>
          <p:cNvSpPr/>
          <p:nvPr/>
        </p:nvSpPr>
        <p:spPr>
          <a:xfrm>
            <a:off x="9488130" y="2767578"/>
            <a:ext cx="1710812" cy="501445"/>
          </a:xfrm>
          <a:prstGeom prst="ellipse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28128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D74A97-6DF3-5317-F99B-FD5C6CCE0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B8A33246-459E-958B-3684-4497E9B582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A1DFC729-66F6-6230-1831-EA9F884BED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416" y="365125"/>
            <a:ext cx="11167447" cy="2089317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093EE9-FE35-1F12-0F58-EA64E19D4C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746" y="586822"/>
            <a:ext cx="3560252" cy="1645920"/>
          </a:xfrm>
        </p:spPr>
        <p:txBody>
          <a:bodyPr>
            <a:normAutofit/>
          </a:bodyPr>
          <a:lstStyle/>
          <a:p>
            <a:r>
              <a:rPr lang="en-GB" sz="3200" dirty="0"/>
              <a:t>How to create an Overleaf account.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FC47397-FF15-604A-9D90-8690526EC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08" y="105773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A888F4E-6270-D2B2-9CC6-5158565B2D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43541" y="1400638"/>
            <a:ext cx="14630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E66462-8A07-47A2-6CFF-457D8DBC4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1716" y="808521"/>
            <a:ext cx="6002636" cy="1645920"/>
          </a:xfrm>
        </p:spPr>
        <p:txBody>
          <a:bodyPr anchor="ctr">
            <a:normAutofit/>
          </a:bodyPr>
          <a:lstStyle/>
          <a:p>
            <a:r>
              <a:rPr lang="en-GB" sz="1800" dirty="0"/>
              <a:t>Select Log in with SSO</a:t>
            </a:r>
          </a:p>
          <a:p>
            <a:r>
              <a:rPr lang="en-GB" sz="1800" dirty="0"/>
              <a:t>Enter your QUB email.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85F3EB-366B-CB5D-04B8-75BB9E8CCA7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4913" b="8584"/>
          <a:stretch/>
        </p:blipFill>
        <p:spPr>
          <a:xfrm>
            <a:off x="1898814" y="2557915"/>
            <a:ext cx="3056521" cy="4196611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DA9CD13C-387C-89FB-A533-73CFDFF00B19}"/>
              </a:ext>
            </a:extLst>
          </p:cNvPr>
          <p:cNvSpPr/>
          <p:nvPr/>
        </p:nvSpPr>
        <p:spPr>
          <a:xfrm>
            <a:off x="2232992" y="6253081"/>
            <a:ext cx="2359742" cy="501445"/>
          </a:xfrm>
          <a:prstGeom prst="ellipse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34F429F-2195-348F-9A3C-329886B85C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9874" y="2897837"/>
            <a:ext cx="3878916" cy="3612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83095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F22053-607A-CACF-231D-567163620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0492ECC1-BB0A-0A44-0330-5341096BE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D17238E3-538A-F45C-BB4E-94003D98AE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416" y="365125"/>
            <a:ext cx="11167447" cy="2089317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8E0D8C7-AB4E-1D43-ED05-17B8236BEC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746" y="586822"/>
            <a:ext cx="3560252" cy="1645920"/>
          </a:xfrm>
        </p:spPr>
        <p:txBody>
          <a:bodyPr>
            <a:normAutofit/>
          </a:bodyPr>
          <a:lstStyle/>
          <a:p>
            <a:r>
              <a:rPr lang="en-GB" sz="3200" dirty="0"/>
              <a:t>Creating a Blank Document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7561314-0C6B-BDB3-943F-741313A41A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08" y="105773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BFA472D-8B80-A38D-0274-1EFA694059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43541" y="1400638"/>
            <a:ext cx="14630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F3DCE5-F8BA-5B98-E497-972B008417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43124" y="678262"/>
            <a:ext cx="6002636" cy="1645920"/>
          </a:xfrm>
        </p:spPr>
        <p:txBody>
          <a:bodyPr anchor="ctr">
            <a:normAutofit/>
          </a:bodyPr>
          <a:lstStyle/>
          <a:p>
            <a:r>
              <a:rPr lang="en-GB" sz="1800" dirty="0"/>
              <a:t>Select New Project.</a:t>
            </a:r>
          </a:p>
          <a:p>
            <a:r>
              <a:rPr lang="en-GB" sz="1800" dirty="0"/>
              <a:t>Select Blank Project.</a:t>
            </a:r>
          </a:p>
          <a:p>
            <a:r>
              <a:rPr lang="en-GB" sz="1800" dirty="0"/>
              <a:t>You can also select many different templates.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35FF69-4619-96BF-9109-8233E0EF04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3578" y="2561967"/>
            <a:ext cx="8966823" cy="409885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29051D9-7306-C15A-555F-10DAB19F99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379" y="2634025"/>
            <a:ext cx="2072820" cy="310922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F6C0010-EF64-62C5-9F9C-626BCBEFA3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664" y="5837787"/>
            <a:ext cx="2187130" cy="823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94180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4B6ECA-1C22-2A05-A25A-C23F9DFA22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3C88BFF8-7ED3-1AC6-4094-4633C0978D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1711D5B1-BB42-B1D0-FB88-4BFE74BFD6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416" y="365125"/>
            <a:ext cx="11167447" cy="2089317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E86EACD-E115-C9C9-93FD-ABF74E611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746" y="586822"/>
            <a:ext cx="3560252" cy="1645920"/>
          </a:xfrm>
        </p:spPr>
        <p:txBody>
          <a:bodyPr>
            <a:normAutofit/>
          </a:bodyPr>
          <a:lstStyle/>
          <a:p>
            <a:r>
              <a:rPr lang="en-GB" sz="3200" dirty="0"/>
              <a:t>Document Class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378CCFF-F97F-79FB-AE36-1FCC9B73B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08" y="105773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A302E6D-BA62-F44E-90DD-A719D68AC0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43541" y="1400638"/>
            <a:ext cx="14630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F7AA2C-E1E3-0961-A600-AD0950D0DB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1716" y="808521"/>
            <a:ext cx="6002636" cy="1645920"/>
          </a:xfrm>
        </p:spPr>
        <p:txBody>
          <a:bodyPr anchor="ctr">
            <a:normAutofit/>
          </a:bodyPr>
          <a:lstStyle/>
          <a:p>
            <a:r>
              <a:rPr lang="en-GB" sz="1800" dirty="0"/>
              <a:t>Defines the overall layout of document.</a:t>
            </a:r>
          </a:p>
          <a:p>
            <a:r>
              <a:rPr lang="en-GB" sz="1800" dirty="0"/>
              <a:t>Commonly used classes are article and report.</a:t>
            </a:r>
          </a:p>
          <a:p>
            <a:r>
              <a:rPr lang="en-GB" sz="1800" dirty="0"/>
              <a:t>More information can be found here: https://tex.stackexchange.com/questions/782/what-are-the-available-documentclass-types-and-their-uses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D55208-EAD2-25DE-7996-5A39F1649D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387" y="2767579"/>
            <a:ext cx="5540220" cy="36426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034384D-0039-54E0-30C0-54F6AE7617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4351" y="2690090"/>
            <a:ext cx="5570703" cy="393226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CC931F0-5E2B-C4DD-224E-E3561D1B5A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88017" y="2541802"/>
            <a:ext cx="2643370" cy="29657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53E2359-49C9-ABD6-55AA-6D2FF1B0D9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14099" y="2522994"/>
            <a:ext cx="2526796" cy="296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8232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49C6EB-5601-2627-5AFB-C88113D2C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816EBD89-FD63-0238-A362-968E796574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41FEE065-4129-9CF4-8714-92E190008F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416" y="365125"/>
            <a:ext cx="11167447" cy="2089317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4443E38-0B4A-C823-46D3-CD1CA8E0BE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746" y="586822"/>
            <a:ext cx="3560252" cy="1645920"/>
          </a:xfrm>
        </p:spPr>
        <p:txBody>
          <a:bodyPr>
            <a:normAutofit/>
          </a:bodyPr>
          <a:lstStyle/>
          <a:p>
            <a:r>
              <a:rPr lang="en-GB" sz="3200" dirty="0"/>
              <a:t>Packages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5F02F2E-3E1A-DC98-298B-E417740F07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08" y="105773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4FA87D8-6C08-0D32-3BB5-15B4207D69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43541" y="1400638"/>
            <a:ext cx="14630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31B0DA-83B8-D290-DABC-778DEA3547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1716" y="808521"/>
            <a:ext cx="6002636" cy="1645920"/>
          </a:xfrm>
        </p:spPr>
        <p:txBody>
          <a:bodyPr anchor="ctr">
            <a:normAutofit/>
          </a:bodyPr>
          <a:lstStyle/>
          <a:p>
            <a:r>
              <a:rPr lang="en-GB" sz="1800" dirty="0"/>
              <a:t>Many external packages to add new commands and functions.</a:t>
            </a:r>
          </a:p>
          <a:p>
            <a:r>
              <a:rPr lang="en-GB" sz="1800" dirty="0"/>
              <a:t>For example, </a:t>
            </a:r>
            <a:r>
              <a:rPr lang="en-GB" sz="1800" dirty="0" err="1"/>
              <a:t>natbib</a:t>
            </a:r>
            <a:r>
              <a:rPr lang="en-GB" sz="1800" dirty="0"/>
              <a:t> for referencing and </a:t>
            </a:r>
            <a:r>
              <a:rPr lang="en-GB" sz="1800" dirty="0" err="1"/>
              <a:t>amsmath</a:t>
            </a:r>
            <a:r>
              <a:rPr lang="en-GB" sz="1800" dirty="0"/>
              <a:t> for equations</a:t>
            </a:r>
          </a:p>
          <a:p>
            <a:r>
              <a:rPr lang="en-GB" sz="1800" dirty="0"/>
              <a:t>For a comprehensive list go to https://www.ctan.org/pk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B7C0069-7EAB-55CE-A688-95B7920A42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424" y="2897837"/>
            <a:ext cx="7215290" cy="3363598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799C737-BF66-3ABA-EE01-E82826E7BD3D}"/>
              </a:ext>
            </a:extLst>
          </p:cNvPr>
          <p:cNvSpPr/>
          <p:nvPr/>
        </p:nvSpPr>
        <p:spPr>
          <a:xfrm>
            <a:off x="618424" y="4150545"/>
            <a:ext cx="5401376" cy="107768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5553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36C21F-3EE1-3459-9DE8-ED914837F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A7C7127C-C01A-3EB1-3950-87A9675C2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24A34DDB-F7DA-BFEB-9B60-23891AC4E8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416" y="365125"/>
            <a:ext cx="11167447" cy="2089317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B7C6B11-50AA-767E-239F-9CA2A3B02E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746" y="586822"/>
            <a:ext cx="3560252" cy="1645920"/>
          </a:xfrm>
        </p:spPr>
        <p:txBody>
          <a:bodyPr>
            <a:normAutofit/>
          </a:bodyPr>
          <a:lstStyle/>
          <a:p>
            <a:r>
              <a:rPr lang="en-GB" sz="3200" dirty="0"/>
              <a:t>Title, Date, Author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77D0F5A-451B-EB67-E90C-5C24D06D11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08" y="105773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A2A73FF-9061-B5D9-EFAE-BCC17E3E16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43541" y="1400638"/>
            <a:ext cx="14630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E19BEC-4C70-BA24-96CD-A48DA524F4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1716" y="808521"/>
            <a:ext cx="6002636" cy="1645920"/>
          </a:xfrm>
        </p:spPr>
        <p:txBody>
          <a:bodyPr anchor="ctr">
            <a:normAutofit fontScale="92500" lnSpcReduction="10000"/>
          </a:bodyPr>
          <a:lstStyle/>
          <a:p>
            <a:r>
              <a:rPr lang="en-GB" sz="1800" dirty="0"/>
              <a:t>Before \begin{document}: \title{}, \date{}, \author{} are what they sound like.</a:t>
            </a:r>
          </a:p>
          <a:p>
            <a:r>
              <a:rPr lang="en-GB" sz="1800" dirty="0"/>
              <a:t>After \begin{document}: \</a:t>
            </a:r>
            <a:r>
              <a:rPr lang="en-GB" sz="1800" dirty="0" err="1"/>
              <a:t>maketitle</a:t>
            </a:r>
            <a:r>
              <a:rPr lang="en-GB" sz="1800" dirty="0"/>
              <a:t> generates title, author and date.</a:t>
            </a:r>
          </a:p>
          <a:p>
            <a:r>
              <a:rPr lang="en-GB" sz="1800" dirty="0"/>
              <a:t>Alternatively, after \begin{document}, use \begin{titlepage} for further customisation.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C814B80-C95C-BB4E-5785-627688F243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416" y="2767579"/>
            <a:ext cx="5540220" cy="364267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0421972-463B-28F7-E424-E9380D7DF2C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36658"/>
          <a:stretch/>
        </p:blipFill>
        <p:spPr>
          <a:xfrm>
            <a:off x="6649052" y="2767579"/>
            <a:ext cx="4858547" cy="3971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83906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1B1866-90BC-9058-FDC5-28B3E90BD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A31E6628-A78A-6A85-DB2A-F645A8FF4C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DCD757D9-757E-1F2A-39C5-F22DCE753D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416" y="365125"/>
            <a:ext cx="11167447" cy="2089317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8DA745-32BB-6F6C-9E01-0A3E1ECCA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746" y="586822"/>
            <a:ext cx="3560252" cy="1645920"/>
          </a:xfrm>
        </p:spPr>
        <p:txBody>
          <a:bodyPr>
            <a:normAutofit/>
          </a:bodyPr>
          <a:lstStyle/>
          <a:p>
            <a:r>
              <a:rPr lang="en-GB" sz="3200" dirty="0"/>
              <a:t>Abstract and Table of Contents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E20F152-2FD4-745D-3658-BFDA6E02CF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08" y="105773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9DC3592-F24B-03D9-C592-D6C034D122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43541" y="1400638"/>
            <a:ext cx="14630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E1A1F3-8411-252D-816E-7D7CDFA5FB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1716" y="586822"/>
            <a:ext cx="6002636" cy="1645920"/>
          </a:xfrm>
        </p:spPr>
        <p:txBody>
          <a:bodyPr anchor="ctr">
            <a:normAutofit/>
          </a:bodyPr>
          <a:lstStyle/>
          <a:p>
            <a:r>
              <a:rPr lang="en-GB" sz="1800" dirty="0"/>
              <a:t>\begin{abstract} creates an unnumbered abstract section</a:t>
            </a:r>
          </a:p>
          <a:p>
            <a:r>
              <a:rPr lang="en-GB" sz="1800" dirty="0"/>
              <a:t>In a report class document this is on a separate page.</a:t>
            </a:r>
          </a:p>
          <a:p>
            <a:r>
              <a:rPr lang="en-GB" sz="1800" dirty="0"/>
              <a:t>\</a:t>
            </a:r>
            <a:r>
              <a:rPr lang="en-GB" sz="1800" dirty="0" err="1"/>
              <a:t>tableofcontents</a:t>
            </a:r>
            <a:r>
              <a:rPr lang="en-GB" sz="1800" dirty="0"/>
              <a:t> generates a table of contents based on the document’s sections.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20C848B-0C8D-4A35-CB3F-3919AE642F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5202" y="2667771"/>
            <a:ext cx="6801595" cy="3825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8943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8775FD-6AAC-DB59-216D-E007AC2D2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2ECF5303-EA0B-DCEE-56E3-261190CEBB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B488D2E2-05B4-43E3-5C3A-85899520AA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416" y="365125"/>
            <a:ext cx="11167447" cy="2089317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3B80A4-7491-3495-BDC1-8260193EE9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746" y="586822"/>
            <a:ext cx="3560252" cy="1645920"/>
          </a:xfrm>
        </p:spPr>
        <p:txBody>
          <a:bodyPr>
            <a:normAutofit/>
          </a:bodyPr>
          <a:lstStyle/>
          <a:p>
            <a:r>
              <a:rPr lang="en-GB" sz="3200" dirty="0"/>
              <a:t>Sections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311D72B-88EC-0B4C-1FFC-1CD4052094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08" y="105773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42AC31F-3B2A-A98D-5E4B-209BCD93A4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43541" y="1400638"/>
            <a:ext cx="14630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72BCDA-0FC0-F59C-FBC7-AE65D84871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1716" y="808521"/>
            <a:ext cx="6002636" cy="1645920"/>
          </a:xfrm>
        </p:spPr>
        <p:txBody>
          <a:bodyPr anchor="ctr">
            <a:normAutofit fontScale="92500"/>
          </a:bodyPr>
          <a:lstStyle/>
          <a:p>
            <a:r>
              <a:rPr lang="en-GB" sz="1800" dirty="0"/>
              <a:t>\section{Section title} creates section headings which are numbered.</a:t>
            </a:r>
          </a:p>
          <a:p>
            <a:r>
              <a:rPr lang="en-GB" sz="1800" dirty="0"/>
              <a:t>These can be followed by \subsection{} and \subsubsection{}</a:t>
            </a:r>
          </a:p>
          <a:p>
            <a:r>
              <a:rPr lang="en-GB" sz="1800" dirty="0"/>
              <a:t>In a report class document \chapter{} is the highest section type.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187292F-3DA5-75E7-4318-74C8A5FB0C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5101" y="3216607"/>
            <a:ext cx="3946626" cy="22996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55A8192-0192-70F0-883E-88BA5A92BC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1716" y="2564990"/>
            <a:ext cx="6046194" cy="4182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16454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04C776-C24E-8EA5-81CF-D6C5644A14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20F7D054-1891-BD75-39D1-DD5F1D5E3A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6AAF18E8-E500-9DDD-D8A5-A573630FF3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416" y="365125"/>
            <a:ext cx="11167447" cy="2089317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9D0D0C-7C69-B78B-23B2-1C595E48E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746" y="586822"/>
            <a:ext cx="3560252" cy="1645920"/>
          </a:xfrm>
        </p:spPr>
        <p:txBody>
          <a:bodyPr>
            <a:normAutofit/>
          </a:bodyPr>
          <a:lstStyle/>
          <a:p>
            <a:r>
              <a:rPr lang="en-GB" sz="3200" dirty="0"/>
              <a:t>Lists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090C788-6773-B88A-CFCE-BD2E64AE2B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08" y="105773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491B012-8EF5-6EDE-EE0B-1C0E8C9BB9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43541" y="1400638"/>
            <a:ext cx="14630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0A98DB-6240-0FF3-C169-871CA0CC3A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1716" y="808521"/>
            <a:ext cx="6002636" cy="1645920"/>
          </a:xfrm>
        </p:spPr>
        <p:txBody>
          <a:bodyPr anchor="ctr">
            <a:normAutofit/>
          </a:bodyPr>
          <a:lstStyle/>
          <a:p>
            <a:r>
              <a:rPr lang="en-GB" sz="1800" dirty="0"/>
              <a:t>Using the \begin{itemize] command we can create lists with bullet points</a:t>
            </a:r>
          </a:p>
          <a:p>
            <a:r>
              <a:rPr lang="en-GB" sz="1800" dirty="0"/>
              <a:t>Each bullet point is created using a \item command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78A3C8-41E9-7AA3-A16B-7233DCFAC4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692" y="2840946"/>
            <a:ext cx="3501023" cy="365192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3962180-E1DC-BBD4-B51A-335CF47BA91A}"/>
              </a:ext>
            </a:extLst>
          </p:cNvPr>
          <p:cNvSpPr txBox="1"/>
          <p:nvPr/>
        </p:nvSpPr>
        <p:spPr>
          <a:xfrm>
            <a:off x="6530025" y="2972592"/>
            <a:ext cx="3767861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GB" sz="3200" dirty="0">
              <a:effectLst/>
              <a:latin typeface="Helvetica" pitchFamily="2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GB" sz="3200" dirty="0">
                <a:effectLst/>
                <a:latin typeface="Helvetica" pitchFamily="2" charset="0"/>
              </a:rPr>
              <a:t>﻿﻿This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3200" dirty="0">
                <a:effectLst/>
                <a:latin typeface="Helvetica" pitchFamily="2" charset="0"/>
              </a:rPr>
              <a:t>﻿﻿is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3200" dirty="0">
                <a:effectLst/>
                <a:latin typeface="Helvetica" pitchFamily="2" charset="0"/>
              </a:rPr>
              <a:t>﻿﻿a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3200" dirty="0">
                <a:effectLst/>
                <a:latin typeface="Helvetica" pitchFamily="2" charset="0"/>
              </a:rPr>
              <a:t>﻿﻿list</a:t>
            </a:r>
          </a:p>
        </p:txBody>
      </p:sp>
    </p:spTree>
    <p:extLst>
      <p:ext uri="{BB962C8B-B14F-4D97-AF65-F5344CB8AC3E}">
        <p14:creationId xmlns:p14="http://schemas.microsoft.com/office/powerpoint/2010/main" val="10780790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56B599-60B5-F048-E6B0-6F0BF8FB2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E7CD845E-ADA4-F1CE-A7A5-4C5FBE31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FC94CE24-91C4-6717-0048-71A8A39644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416" y="365125"/>
            <a:ext cx="11167447" cy="2089317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50FEF8-F627-B027-DBFB-912835014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746" y="586822"/>
            <a:ext cx="3560252" cy="1645920"/>
          </a:xfrm>
        </p:spPr>
        <p:txBody>
          <a:bodyPr>
            <a:normAutofit/>
          </a:bodyPr>
          <a:lstStyle/>
          <a:p>
            <a:r>
              <a:rPr lang="en-GB" sz="3200" dirty="0"/>
              <a:t>Equations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6943FDA-5E15-EEBD-857A-C4706857C2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08" y="105773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D9DFEE6-F19E-CEEF-7700-348840F96B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43541" y="1400638"/>
            <a:ext cx="14630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1904C8-4892-E438-EDAA-98B4D1CA97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1716" y="808521"/>
            <a:ext cx="6002636" cy="1645920"/>
          </a:xfrm>
        </p:spPr>
        <p:txBody>
          <a:bodyPr anchor="ctr">
            <a:normAutofit/>
          </a:bodyPr>
          <a:lstStyle/>
          <a:p>
            <a:r>
              <a:rPr lang="en-GB" sz="1800" dirty="0"/>
              <a:t>\begin{equation} opens a maths environment. </a:t>
            </a:r>
          </a:p>
          <a:p>
            <a:r>
              <a:rPr lang="en-GB" sz="1800" dirty="0"/>
              <a:t>This allows the free use of math commands.</a:t>
            </a:r>
          </a:p>
          <a:p>
            <a:r>
              <a:rPr lang="en-GB" sz="1800" dirty="0"/>
              <a:t>Equations will be automatically labelled and numbered.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96418FF-8D0E-BF09-0682-B60F61ACF2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3617" y="2678303"/>
            <a:ext cx="3293381" cy="150139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12C2699-D5BC-9A36-0065-D0152A5037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017" y="5189376"/>
            <a:ext cx="4943269" cy="50574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BB40A05-7BC5-A8F6-3C21-8C70E1CDAF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4188" y="2678303"/>
            <a:ext cx="2357691" cy="158318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5BB673F-8FED-EA6D-0804-86D490074C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6583" y="4971037"/>
            <a:ext cx="4458836" cy="724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67358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C80C61-9F4D-EEA6-718E-B6921C5BB8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ADE8CA15-DE02-8603-F9DD-A57A1C9CBB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FE6BBFD0-CDFF-C937-9155-4121F0B20C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416" y="365125"/>
            <a:ext cx="11167447" cy="2089317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849FA4E-8FEC-8CFC-903E-4E56EC7D9A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746" y="586822"/>
            <a:ext cx="3560252" cy="1645920"/>
          </a:xfrm>
        </p:spPr>
        <p:txBody>
          <a:bodyPr>
            <a:normAutofit/>
          </a:bodyPr>
          <a:lstStyle/>
          <a:p>
            <a:r>
              <a:rPr lang="en-GB" sz="3200" dirty="0"/>
              <a:t>Equations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0E52F02-AA05-2022-C6DD-33508A77E2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08" y="105773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C7C9796-B725-492C-96C1-51662D83DF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43541" y="1400638"/>
            <a:ext cx="14630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20C2ED-4D24-C033-8DEA-978D5D388E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1716" y="808521"/>
            <a:ext cx="6002636" cy="1645920"/>
          </a:xfrm>
        </p:spPr>
        <p:txBody>
          <a:bodyPr anchor="ctr">
            <a:normAutofit/>
          </a:bodyPr>
          <a:lstStyle/>
          <a:p>
            <a:r>
              <a:rPr lang="en-GB" sz="1800" dirty="0" err="1"/>
              <a:t>Mathpix</a:t>
            </a:r>
            <a:r>
              <a:rPr lang="en-GB" sz="1800" dirty="0"/>
              <a:t> can convert images of equations to LaTeX code.</a:t>
            </a:r>
          </a:p>
          <a:p>
            <a:r>
              <a:rPr lang="en-GB" sz="1800" dirty="0"/>
              <a:t>Useful for long equations.</a:t>
            </a:r>
          </a:p>
          <a:p>
            <a:r>
              <a:rPr lang="en-GB" sz="1800" dirty="0"/>
              <a:t>https://mathpix.com/image-to-latex</a:t>
            </a:r>
          </a:p>
          <a:p>
            <a:endParaRPr lang="en-GB" sz="1800" dirty="0"/>
          </a:p>
        </p:txBody>
      </p:sp>
      <p:pic>
        <p:nvPicPr>
          <p:cNvPr id="2050" name="Picture 2" descr="Image preview">
            <a:extLst>
              <a:ext uri="{FF2B5EF4-FFF2-40B4-BE49-F238E27FC236}">
                <a16:creationId xmlns:a16="http://schemas.microsoft.com/office/drawing/2014/main" id="{8CBA8437-8131-7209-6A8D-7A56411D42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58871" y="2676138"/>
            <a:ext cx="7358535" cy="4120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98998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0427088-3085-F066-977B-8E555953D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E07CFC46-195C-B1C0-5562-8B7E2B32DB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F76B5F52-FDA4-2393-7661-AE31C6F139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416" y="365125"/>
            <a:ext cx="11167447" cy="2089317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B3AA2B1-23C2-A6D8-956A-CCDB269E1F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746" y="586822"/>
            <a:ext cx="3560252" cy="1645920"/>
          </a:xfrm>
        </p:spPr>
        <p:txBody>
          <a:bodyPr>
            <a:normAutofit/>
          </a:bodyPr>
          <a:lstStyle/>
          <a:p>
            <a:r>
              <a:rPr lang="en-GB" sz="3200" dirty="0"/>
              <a:t>Tables	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CE28E7A-38B2-9D29-8D39-E34A3A8EB5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08" y="105773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4FD759F-6C4A-BAE9-6441-9FC94ACA69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43541" y="1400638"/>
            <a:ext cx="14630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D7D752-9CA0-5EEE-3E56-DADD0DEC80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1716" y="365124"/>
            <a:ext cx="6002636" cy="2089317"/>
          </a:xfrm>
        </p:spPr>
        <p:txBody>
          <a:bodyPr anchor="ctr">
            <a:normAutofit fontScale="92500"/>
          </a:bodyPr>
          <a:lstStyle/>
          <a:p>
            <a:r>
              <a:rPr lang="en-GB" sz="1800" dirty="0"/>
              <a:t>\begin{table} creates a list environment.</a:t>
            </a:r>
          </a:p>
          <a:p>
            <a:r>
              <a:rPr lang="en-GB" sz="1800" dirty="0"/>
              <a:t>\begin{tabular}{|</a:t>
            </a:r>
            <a:r>
              <a:rPr lang="en-GB" sz="1800" dirty="0" err="1"/>
              <a:t>c|c</a:t>
            </a:r>
            <a:r>
              <a:rPr lang="en-GB" sz="1800" dirty="0"/>
              <a:t>|} creates your table.</a:t>
            </a:r>
          </a:p>
          <a:p>
            <a:r>
              <a:rPr lang="en-GB" sz="1800" dirty="0"/>
              <a:t>c represents one column and | inserts lines between columns.</a:t>
            </a:r>
          </a:p>
          <a:p>
            <a:r>
              <a:rPr lang="en-GB" sz="1800" dirty="0"/>
              <a:t>Data in a row is separated by &amp; and a new line is taken with \\.</a:t>
            </a:r>
          </a:p>
          <a:p>
            <a:r>
              <a:rPr lang="en-GB" sz="1800" dirty="0"/>
              <a:t>\</a:t>
            </a:r>
            <a:r>
              <a:rPr lang="en-GB" sz="1800" dirty="0" err="1"/>
              <a:t>hline</a:t>
            </a:r>
            <a:r>
              <a:rPr lang="en-GB" sz="1800" dirty="0"/>
              <a:t> adds horizontal lines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D93580-42BD-1236-51D5-030E3F3EE3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8240" y="2634606"/>
            <a:ext cx="1920376" cy="39755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32C31F8-F49C-1265-BAFA-3F5419C366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4890" y="2819566"/>
            <a:ext cx="1640836" cy="353573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C1C4649-90DC-9B0E-9AFA-64A9FAB1C0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6746" y="2634606"/>
            <a:ext cx="1676322" cy="390565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752EADF-A8DF-0562-EC2D-F425E539F1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22904" y="2743611"/>
            <a:ext cx="1382328" cy="3485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9272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61F313-7EB7-35B5-9528-A3A7720D5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F7D8E80A-C5DA-2563-D231-BC9E16075D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43079FDB-A88E-C3B9-C8E2-C2DC17A143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416" y="365125"/>
            <a:ext cx="11167447" cy="2089317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D268A4-EBAC-DFBC-7B51-9DC99B5F66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746" y="586822"/>
            <a:ext cx="3560252" cy="1645920"/>
          </a:xfrm>
        </p:spPr>
        <p:txBody>
          <a:bodyPr>
            <a:normAutofit/>
          </a:bodyPr>
          <a:lstStyle/>
          <a:p>
            <a:r>
              <a:rPr lang="en-GB" sz="3200" dirty="0"/>
              <a:t>Figures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7C42114-EB13-8056-DF9B-291FD2D92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08" y="105773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71646CD-2B38-0F52-F02E-BC82AF7080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43541" y="1400638"/>
            <a:ext cx="14630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A5007F-6EA2-9EA1-D4DE-02A40BBC8B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1716" y="487017"/>
            <a:ext cx="6002636" cy="1967424"/>
          </a:xfrm>
        </p:spPr>
        <p:txBody>
          <a:bodyPr anchor="ctr">
            <a:normAutofit fontScale="85000" lnSpcReduction="10000"/>
          </a:bodyPr>
          <a:lstStyle/>
          <a:p>
            <a:r>
              <a:rPr lang="en-GB" sz="1800" dirty="0"/>
              <a:t>\begin{figure} allows you to insert images using \</a:t>
            </a:r>
            <a:r>
              <a:rPr lang="en-GB" sz="1800" err="1"/>
              <a:t>includegraphics</a:t>
            </a:r>
            <a:r>
              <a:rPr lang="en-GB" sz="1800" dirty="0"/>
              <a:t>.</a:t>
            </a:r>
          </a:p>
          <a:p>
            <a:r>
              <a:rPr lang="en-GB" sz="1800" dirty="0"/>
              <a:t>These will automatically be labelled as figures and be numbered.</a:t>
            </a:r>
          </a:p>
          <a:p>
            <a:r>
              <a:rPr lang="en-GB" sz="1800" dirty="0"/>
              <a:t>By default, LaTeX will place images where they fit best. Use [h!] as alternative </a:t>
            </a:r>
            <a:endParaRPr lang="en-GB" sz="1800" dirty="0">
              <a:cs typeface="Calibri"/>
            </a:endParaRPr>
          </a:p>
          <a:p>
            <a:r>
              <a:rPr lang="en-GB" sz="1800" dirty="0"/>
              <a:t>For specifying where images go read this page: https://tex.stackexchange.com/questions/35125/how-to-use-the-placement-options-t-h-with-figures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B3E770F-E7DF-4876-BE24-A3A6A5CA53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814" y="5179063"/>
            <a:ext cx="5659186" cy="15472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5B30DE8-DAC8-FB1A-D051-1AC9DEEBE4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416" y="2676139"/>
            <a:ext cx="2410534" cy="2296136"/>
          </a:xfrm>
          <a:prstGeom prst="rect">
            <a:avLst/>
          </a:prstGeom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E8B2A310-E38C-CA44-3B5C-28E2CBCB6F7A}"/>
              </a:ext>
            </a:extLst>
          </p:cNvPr>
          <p:cNvSpPr/>
          <p:nvPr/>
        </p:nvSpPr>
        <p:spPr>
          <a:xfrm>
            <a:off x="904461" y="3026465"/>
            <a:ext cx="755374" cy="506896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48B39AD-7730-0863-4493-5784286801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5601" y="2819567"/>
            <a:ext cx="5394606" cy="3441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81161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BDB1D8-8BB8-614E-269E-4155F02F0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90563031-480B-A86F-3C47-D59F373BA8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607CC819-1617-A9D2-D5A9-736B2F8919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416" y="365125"/>
            <a:ext cx="11167447" cy="2089317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3DA74A0-2618-0A20-F88F-80F7D7953F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746" y="586822"/>
            <a:ext cx="3560252" cy="1645920"/>
          </a:xfrm>
        </p:spPr>
        <p:txBody>
          <a:bodyPr>
            <a:normAutofit/>
          </a:bodyPr>
          <a:lstStyle/>
          <a:p>
            <a:r>
              <a:rPr lang="en-GB" sz="3200" dirty="0"/>
              <a:t>Basic text formatting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59BD74B-B709-98FD-987F-ED6E83811B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08" y="105773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1257CA9-E8F9-DE20-6A03-1F625BDCAC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43541" y="1400638"/>
            <a:ext cx="14630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04CCA6-8B79-DCF6-242E-9655D07D9A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1716" y="808521"/>
            <a:ext cx="6002636" cy="1645920"/>
          </a:xfrm>
        </p:spPr>
        <p:txBody>
          <a:bodyPr anchor="ctr">
            <a:normAutofit fontScale="92500" lnSpcReduction="20000"/>
          </a:bodyPr>
          <a:lstStyle/>
          <a:p>
            <a:r>
              <a:rPr lang="en-GB" sz="1800" dirty="0"/>
              <a:t>There are numerous commands that allow you to format text.</a:t>
            </a:r>
          </a:p>
          <a:p>
            <a:r>
              <a:rPr lang="en-GB" sz="1800" dirty="0"/>
              <a:t>\\ creates a new line, \</a:t>
            </a:r>
            <a:r>
              <a:rPr lang="en-GB" sz="1800" dirty="0" err="1"/>
              <a:t>newpage</a:t>
            </a:r>
            <a:r>
              <a:rPr lang="en-GB" sz="1800" dirty="0"/>
              <a:t> takes a new page. \</a:t>
            </a:r>
            <a:r>
              <a:rPr lang="en-GB" sz="1800" dirty="0" err="1"/>
              <a:t>centering</a:t>
            </a:r>
            <a:r>
              <a:rPr lang="en-GB" sz="1800" dirty="0"/>
              <a:t> </a:t>
            </a:r>
            <a:r>
              <a:rPr lang="en-GB" sz="1800" dirty="0" err="1"/>
              <a:t>centers</a:t>
            </a:r>
            <a:r>
              <a:rPr lang="en-GB" sz="1800" dirty="0"/>
              <a:t> text.</a:t>
            </a:r>
          </a:p>
          <a:p>
            <a:r>
              <a:rPr lang="en-GB" sz="1800" dirty="0"/>
              <a:t>\(…\) and $...$ allow maths commands to be used in text such as Greek letters \alpha.</a:t>
            </a:r>
          </a:p>
          <a:p>
            <a:r>
              <a:rPr lang="en-GB" sz="1800" dirty="0"/>
              <a:t>\</a:t>
            </a:r>
            <a:r>
              <a:rPr lang="en-GB" sz="1800" dirty="0" err="1"/>
              <a:t>textbf</a:t>
            </a:r>
            <a:r>
              <a:rPr lang="en-GB" sz="1800" dirty="0"/>
              <a:t>{} makes text bold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D4A4D4-744F-9D68-9AAF-5EEDF03121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873" y="2514320"/>
            <a:ext cx="3949998" cy="4283801"/>
          </a:xfrm>
          <a:prstGeom prst="rect">
            <a:avLst/>
          </a:prstGeom>
        </p:spPr>
      </p:pic>
      <p:pic>
        <p:nvPicPr>
          <p:cNvPr id="4098" name="Picture 2" descr="LaTeX - Text Alignment - YouTube">
            <a:extLst>
              <a:ext uri="{FF2B5EF4-FFF2-40B4-BE49-F238E27FC236}">
                <a16:creationId xmlns:a16="http://schemas.microsoft.com/office/drawing/2014/main" id="{2CAA18B4-6BD6-DD32-8216-531ECD3FB2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9541" y="2588798"/>
            <a:ext cx="6152322" cy="34606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07792F4-66A9-1407-D180-7EB4AC7D3EED}"/>
              </a:ext>
            </a:extLst>
          </p:cNvPr>
          <p:cNvSpPr txBox="1"/>
          <p:nvPr/>
        </p:nvSpPr>
        <p:spPr>
          <a:xfrm>
            <a:off x="5311759" y="6213346"/>
            <a:ext cx="66678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Above: </a:t>
            </a:r>
            <a:r>
              <a:rPr lang="en-GB" sz="1600" dirty="0">
                <a:hlinkClick r:id="rId4"/>
              </a:rPr>
              <a:t>https://i.ytimg.com/vi/6Rv3RFrB6k8/maxresdefault.jpg</a:t>
            </a:r>
            <a:endParaRPr lang="en-GB" sz="1600" dirty="0"/>
          </a:p>
          <a:p>
            <a:r>
              <a:rPr lang="en-GB" sz="1600" dirty="0"/>
              <a:t>Left: https://en.wikibooks.org/w/index.php?title=LaTeX/Fonts&amp;oldid=4240865</a:t>
            </a:r>
          </a:p>
        </p:txBody>
      </p:sp>
    </p:spTree>
    <p:extLst>
      <p:ext uri="{BB962C8B-B14F-4D97-AF65-F5344CB8AC3E}">
        <p14:creationId xmlns:p14="http://schemas.microsoft.com/office/powerpoint/2010/main" val="28619536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9EE6BA0-3DDF-0CBC-0014-7238AC64B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47677648-03EC-9521-5997-C9299DACAB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2E8FEA9D-9D0A-0A59-3D49-C6ED197499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416" y="365125"/>
            <a:ext cx="11167447" cy="2089317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ADA2D9-6930-F16D-2917-9B5FF0113B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746" y="586822"/>
            <a:ext cx="3560252" cy="1645920"/>
          </a:xfrm>
        </p:spPr>
        <p:txBody>
          <a:bodyPr>
            <a:normAutofit/>
          </a:bodyPr>
          <a:lstStyle/>
          <a:p>
            <a:r>
              <a:rPr lang="en-GB" sz="3200" dirty="0"/>
              <a:t>Referencing figures in text.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1FCCFC6-DE6E-3872-A9B5-B6306F1ACE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08" y="105773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2E8BD8C-4E3B-B4B3-72AF-FAC5454D4F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43541" y="1400638"/>
            <a:ext cx="14630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2BE09-9B4E-6D68-5BE1-B6FAA6ED6C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1716" y="808521"/>
            <a:ext cx="6002636" cy="1645920"/>
          </a:xfrm>
        </p:spPr>
        <p:txBody>
          <a:bodyPr anchor="ctr">
            <a:normAutofit/>
          </a:bodyPr>
          <a:lstStyle/>
          <a:p>
            <a:r>
              <a:rPr lang="en-GB" sz="1800" dirty="0"/>
              <a:t>\ref{</a:t>
            </a:r>
            <a:r>
              <a:rPr lang="en-GB" sz="1800" dirty="0" err="1"/>
              <a:t>fig:name</a:t>
            </a:r>
            <a:r>
              <a:rPr lang="en-GB" sz="1800" dirty="0"/>
              <a:t>} allows you to reference a certain figure, by number, based on the figure label.</a:t>
            </a:r>
          </a:p>
          <a:p>
            <a:r>
              <a:rPr lang="en-GB" sz="1800" dirty="0"/>
              <a:t>This will appear, in text, as a number.</a:t>
            </a:r>
          </a:p>
          <a:p>
            <a:r>
              <a:rPr lang="en-GB" sz="1800" dirty="0"/>
              <a:t>Packages such as </a:t>
            </a:r>
            <a:r>
              <a:rPr lang="en-GB" sz="1800" dirty="0" err="1"/>
              <a:t>cleveref</a:t>
            </a:r>
            <a:r>
              <a:rPr lang="en-GB" sz="1800" dirty="0"/>
              <a:t> use \</a:t>
            </a:r>
            <a:r>
              <a:rPr lang="en-GB" sz="1800" dirty="0" err="1"/>
              <a:t>cref</a:t>
            </a:r>
            <a:r>
              <a:rPr lang="en-GB" sz="1800" dirty="0"/>
              <a:t>{} which prints the word fig for you if it is included in the label.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95F943-6840-7E1A-503C-35E2DBED81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8935" y="4403559"/>
            <a:ext cx="7382928" cy="176755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875F01B-6958-31CE-314A-4B0EFB0F6C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416" y="3290481"/>
            <a:ext cx="3418047" cy="164926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BA72CE7-C1C9-C971-11F6-FA5CF7D65C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6439" y="3349551"/>
            <a:ext cx="3426905" cy="453894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F1D504CE-FAA0-07D0-052D-8DEF381939E6}"/>
              </a:ext>
            </a:extLst>
          </p:cNvPr>
          <p:cNvSpPr/>
          <p:nvPr/>
        </p:nvSpPr>
        <p:spPr>
          <a:xfrm>
            <a:off x="5487351" y="5821708"/>
            <a:ext cx="854765" cy="569153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39104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DA3679-FD36-AEBE-C6CC-40EAB3F4E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72CF94FE-0BAC-77D8-78D2-78C586C870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3D01488E-4B0C-FE74-43A9-D72549AA25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416" y="365125"/>
            <a:ext cx="11167447" cy="2089317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E0A1B7E-6279-8AB1-E20B-7EE2EF05C9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746" y="586822"/>
            <a:ext cx="3560252" cy="1645920"/>
          </a:xfrm>
        </p:spPr>
        <p:txBody>
          <a:bodyPr>
            <a:normAutofit/>
          </a:bodyPr>
          <a:lstStyle/>
          <a:p>
            <a:r>
              <a:rPr lang="en-GB" sz="3200" dirty="0"/>
              <a:t>References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2AD5727-0D0C-4218-EB80-A81ACF5480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08" y="105773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71D3B8C-6F11-09DA-BD9C-5816D3EE99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43541" y="1400638"/>
            <a:ext cx="14630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F4D4B-A8CB-5665-06A5-B3AB22BCD9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1716" y="365124"/>
            <a:ext cx="6002636" cy="2089317"/>
          </a:xfrm>
        </p:spPr>
        <p:txBody>
          <a:bodyPr anchor="ctr">
            <a:normAutofit lnSpcReduction="10000"/>
          </a:bodyPr>
          <a:lstStyle/>
          <a:p>
            <a:r>
              <a:rPr lang="en-GB" sz="1800" dirty="0"/>
              <a:t>LaTeX can automatically compile your reference section based on what you reference. </a:t>
            </a:r>
          </a:p>
          <a:p>
            <a:r>
              <a:rPr lang="en-GB" sz="1800" dirty="0"/>
              <a:t>This works through a separate file called a .bib file.</a:t>
            </a:r>
          </a:p>
          <a:p>
            <a:r>
              <a:rPr lang="en-GB" sz="1800" dirty="0"/>
              <a:t>References in a .bib file have different classes such as article. </a:t>
            </a:r>
          </a:p>
          <a:p>
            <a:r>
              <a:rPr lang="en-GB" sz="1800" dirty="0"/>
              <a:t>More classes can be found here: https://www.bibtex.com/e/entry-types/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A77A6C-79D5-79FB-5287-F18C1B2317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424" y="2674924"/>
            <a:ext cx="2209992" cy="3817951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A288632C-B0E4-BD48-10BA-CC3393BFF679}"/>
              </a:ext>
            </a:extLst>
          </p:cNvPr>
          <p:cNvSpPr/>
          <p:nvPr/>
        </p:nvSpPr>
        <p:spPr>
          <a:xfrm>
            <a:off x="858716" y="3041374"/>
            <a:ext cx="864704" cy="506895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00EB104-C9B4-ECFA-59AF-4FD3F2F650FD}"/>
              </a:ext>
            </a:extLst>
          </p:cNvPr>
          <p:cNvSpPr/>
          <p:nvPr/>
        </p:nvSpPr>
        <p:spPr>
          <a:xfrm>
            <a:off x="788505" y="5360505"/>
            <a:ext cx="864704" cy="506895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08C9E45-729F-BB3E-E14B-4BE2ACFD55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1593" y="2767578"/>
            <a:ext cx="2750442" cy="176466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E14C9A4-BB22-D870-B8F8-0B6BA9DEE5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6528" y="2712951"/>
            <a:ext cx="2900165" cy="181929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2CA3122-48BE-A826-4D8E-FE098478B5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9985" y="4971443"/>
            <a:ext cx="3616625" cy="1049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64285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118279-E9A0-F772-8DD9-D96059B34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3E4460BF-3642-CCBC-D3B4-6C9D1898D1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56E239B0-1D98-12D7-702D-1D2ECB779D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416" y="365125"/>
            <a:ext cx="11167447" cy="2089317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18C14F-704F-F39E-CC3F-15F03F7531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746" y="586822"/>
            <a:ext cx="3560252" cy="1645920"/>
          </a:xfrm>
        </p:spPr>
        <p:txBody>
          <a:bodyPr>
            <a:normAutofit/>
          </a:bodyPr>
          <a:lstStyle/>
          <a:p>
            <a:r>
              <a:rPr lang="en-GB" sz="3200" dirty="0"/>
              <a:t>Bibliography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C851FF9-B1DF-1F58-6815-D44D2AC3F7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08" y="105773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FF77D2C-4F59-E544-0EEB-50444B9734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43541" y="1400638"/>
            <a:ext cx="14630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470C1-60D3-B801-FC60-8D48A253CF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1716" y="365124"/>
            <a:ext cx="6002636" cy="2089317"/>
          </a:xfrm>
        </p:spPr>
        <p:txBody>
          <a:bodyPr anchor="ctr">
            <a:normAutofit/>
          </a:bodyPr>
          <a:lstStyle/>
          <a:p>
            <a:r>
              <a:rPr lang="en-GB" sz="1800" dirty="0"/>
              <a:t>\bibliography{ref} is the command that compiles your bibliography based on references you have cited in your work. </a:t>
            </a:r>
          </a:p>
          <a:p>
            <a:r>
              <a:rPr lang="en-GB" sz="1800" dirty="0"/>
              <a:t>To cite a reference, you use \cite{label} where the label is the name you gave the reference in the .bib file.</a:t>
            </a:r>
          </a:p>
          <a:p>
            <a:r>
              <a:rPr lang="en-GB" sz="1800" dirty="0"/>
              <a:t>\</a:t>
            </a:r>
            <a:r>
              <a:rPr lang="en-GB" sz="1800" dirty="0" err="1"/>
              <a:t>bibliographystyle</a:t>
            </a:r>
            <a:r>
              <a:rPr lang="en-GB" sz="1800" dirty="0"/>
              <a:t>{} determines the layout of your references and how they appear in your text.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BD1C44E-4490-2724-331F-12D8C667F8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416" y="4020969"/>
            <a:ext cx="2338031" cy="50657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980B1BA-4B64-6B5E-C16E-025753339B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280" y="2794511"/>
            <a:ext cx="4036905" cy="117120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1394312-127B-4E88-E4FF-F474EC04ED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424" y="4946806"/>
            <a:ext cx="2446153" cy="107630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996CA9A-0925-3431-790A-66A1CC24B0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5917" y="2750157"/>
            <a:ext cx="6342038" cy="242107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D57BE71-BC2D-E2AF-D34A-53E3D360C6F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3185" y="5416304"/>
            <a:ext cx="3698411" cy="76343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9611A75-79A6-3E38-BAF3-6878473CE619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t="74221" r="61872" b="21415"/>
          <a:stretch/>
        </p:blipFill>
        <p:spPr>
          <a:xfrm>
            <a:off x="9127425" y="5615326"/>
            <a:ext cx="1847989" cy="365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82173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FC424B-51EC-D07D-98EA-2B5A3C4D1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134A25E2-E642-6E28-3E51-44D7ACD097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DBEBFA4A-983B-06EB-A4E0-D76D4A76F1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416" y="365125"/>
            <a:ext cx="11167447" cy="2089317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E7C9A2-D506-7C32-77A9-5F15FEFF3B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746" y="586822"/>
            <a:ext cx="3560252" cy="1645920"/>
          </a:xfrm>
        </p:spPr>
        <p:txBody>
          <a:bodyPr>
            <a:normAutofit/>
          </a:bodyPr>
          <a:lstStyle/>
          <a:p>
            <a:r>
              <a:rPr lang="en-GB" sz="3200" dirty="0"/>
              <a:t>Bibliography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3877E61-6523-7EA7-C11C-341976E07A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08" y="105773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AD6B6D7-3BDC-6613-CEDB-CF84BD5581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43541" y="1400638"/>
            <a:ext cx="14630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1184DA-2A37-7D86-E5BA-0ED45B1E01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1716" y="365124"/>
            <a:ext cx="6002636" cy="2089317"/>
          </a:xfrm>
        </p:spPr>
        <p:txBody>
          <a:bodyPr anchor="ctr">
            <a:normAutofit/>
          </a:bodyPr>
          <a:lstStyle/>
          <a:p>
            <a:r>
              <a:rPr lang="en-GB" sz="1800" dirty="0"/>
              <a:t>Google Scholar will generate </a:t>
            </a:r>
            <a:r>
              <a:rPr lang="en-GB" sz="1800" dirty="0" err="1"/>
              <a:t>BibTeX</a:t>
            </a:r>
            <a:r>
              <a:rPr lang="en-GB" sz="1800" dirty="0"/>
              <a:t>  entries for any paper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88A1637-8E65-14B4-7E03-BAECC8D8CF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087" y="2596404"/>
            <a:ext cx="8001000" cy="372439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027A341-DEC4-F3AD-9CF4-DF87BC54C1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0429" y="2603444"/>
            <a:ext cx="5551434" cy="3889431"/>
          </a:xfrm>
          <a:prstGeom prst="rect">
            <a:avLst/>
          </a:prstGeom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3EA537E9-1E48-6B71-C2C1-0A9926280F72}"/>
              </a:ext>
            </a:extLst>
          </p:cNvPr>
          <p:cNvSpPr/>
          <p:nvPr/>
        </p:nvSpPr>
        <p:spPr>
          <a:xfrm>
            <a:off x="2355144" y="4084983"/>
            <a:ext cx="696169" cy="353739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794EE2D-7D5A-35BF-B7C3-22C4F3DF1876}"/>
              </a:ext>
            </a:extLst>
          </p:cNvPr>
          <p:cNvSpPr/>
          <p:nvPr/>
        </p:nvSpPr>
        <p:spPr>
          <a:xfrm>
            <a:off x="7453918" y="5967057"/>
            <a:ext cx="696169" cy="353739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64214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CB7796-B461-EE71-0830-6218E8EA89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1BB79225-8328-8AD4-6354-9A269BC65E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EEE8B949-15DB-3C05-C3EF-A78E75CAB4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416" y="365125"/>
            <a:ext cx="11167447" cy="2089317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C780170-7FA9-704A-04BA-285707698B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746" y="586822"/>
            <a:ext cx="3560252" cy="1645920"/>
          </a:xfrm>
        </p:spPr>
        <p:txBody>
          <a:bodyPr>
            <a:normAutofit/>
          </a:bodyPr>
          <a:lstStyle/>
          <a:p>
            <a:r>
              <a:rPr lang="en-GB" sz="3200" dirty="0"/>
              <a:t>Appendix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24104E6-85B1-1378-7E03-6FE9CE5E9A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08" y="105773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42330B2-264F-1724-A1D6-C11DDEB7B9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43541" y="1400638"/>
            <a:ext cx="14630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90EC0F-4EAA-AF8E-6ACD-4B0E1A010C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1716" y="365124"/>
            <a:ext cx="6002636" cy="2089317"/>
          </a:xfrm>
        </p:spPr>
        <p:txBody>
          <a:bodyPr anchor="ctr">
            <a:normAutofit/>
          </a:bodyPr>
          <a:lstStyle/>
          <a:p>
            <a:r>
              <a:rPr lang="en-GB" sz="1800" dirty="0"/>
              <a:t>By using the \appendix command new sections added are labelled by letters instead of numbers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0995E07-9454-8458-088D-9D0F1C1A03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5394" y="2597363"/>
            <a:ext cx="6855279" cy="35823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E21DB7F-6FB0-2248-48DF-1CA6F925BB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550" y="4835846"/>
            <a:ext cx="4800600" cy="13589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130D5F1-DC1F-B836-2615-020994CEB9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662" y="2989127"/>
            <a:ext cx="4246810" cy="1688790"/>
          </a:xfrm>
          <a:prstGeom prst="rect">
            <a:avLst/>
          </a:prstGeom>
        </p:spPr>
      </p:pic>
      <p:sp>
        <p:nvSpPr>
          <p:cNvPr id="11" name="Frame 10">
            <a:extLst>
              <a:ext uri="{FF2B5EF4-FFF2-40B4-BE49-F238E27FC236}">
                <a16:creationId xmlns:a16="http://schemas.microsoft.com/office/drawing/2014/main" id="{10B6B712-058A-7FBD-5954-C6E381C775C6}"/>
              </a:ext>
            </a:extLst>
          </p:cNvPr>
          <p:cNvSpPr/>
          <p:nvPr/>
        </p:nvSpPr>
        <p:spPr>
          <a:xfrm>
            <a:off x="4925394" y="5878286"/>
            <a:ext cx="1478426" cy="316460"/>
          </a:xfrm>
          <a:prstGeom prst="fram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801032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7E1775-02C2-01B4-CF9E-D7F1FCC81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3FBC2644-07C5-4E01-13FA-5C093168D6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34255B61-C765-9E8D-1ABB-90BDC4AE7C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416" y="365125"/>
            <a:ext cx="11167447" cy="2089317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E75A119-F82F-D08E-CD76-CCB70486D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746" y="586822"/>
            <a:ext cx="3560252" cy="1645920"/>
          </a:xfrm>
        </p:spPr>
        <p:txBody>
          <a:bodyPr>
            <a:normAutofit/>
          </a:bodyPr>
          <a:lstStyle/>
          <a:p>
            <a:r>
              <a:rPr lang="en-GB" sz="3200" dirty="0"/>
              <a:t>Python code 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93B31B3-8F88-5D90-C8C0-C60DFFF1C7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08" y="105773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5024E62-E76C-0BEB-75CF-59A13C824C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43541" y="1400638"/>
            <a:ext cx="14630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B588F0-A3E6-4C8B-8D18-2F94FE9389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1716" y="365124"/>
            <a:ext cx="6002636" cy="2089317"/>
          </a:xfrm>
        </p:spPr>
        <p:txBody>
          <a:bodyPr anchor="ctr">
            <a:normAutofit/>
          </a:bodyPr>
          <a:lstStyle/>
          <a:p>
            <a:r>
              <a:rPr lang="en-GB" sz="1800" dirty="0"/>
              <a:t>Using the \begin{</a:t>
            </a:r>
            <a:r>
              <a:rPr lang="en-GB" sz="1800" dirty="0" err="1"/>
              <a:t>lstlisting</a:t>
            </a:r>
            <a:r>
              <a:rPr lang="en-GB" sz="1800" dirty="0"/>
              <a:t>} command we can have text appear like python using defined </a:t>
            </a:r>
            <a:r>
              <a:rPr lang="en-GB" sz="1800" dirty="0" err="1"/>
              <a:t>lst</a:t>
            </a:r>
            <a:r>
              <a:rPr lang="en-GB" sz="1800" dirty="0"/>
              <a:t> styles</a:t>
            </a:r>
          </a:p>
          <a:p>
            <a:r>
              <a:rPr lang="en-GB" sz="1800" dirty="0"/>
              <a:t>Using \</a:t>
            </a:r>
            <a:r>
              <a:rPr lang="en-GB" sz="1800" dirty="0" err="1"/>
              <a:t>lstlistinginput</a:t>
            </a:r>
            <a:r>
              <a:rPr lang="en-GB" sz="1800" dirty="0"/>
              <a:t>{file} we can insert certain lines or all of a file. </a:t>
            </a:r>
          </a:p>
          <a:p>
            <a:r>
              <a:rPr lang="en-GB" sz="1800" dirty="0"/>
              <a:t>Adding </a:t>
            </a:r>
            <a:r>
              <a:rPr lang="en-GB" sz="1800" dirty="0" err="1"/>
              <a:t>firstline</a:t>
            </a:r>
            <a:r>
              <a:rPr lang="en-GB" sz="1800" dirty="0"/>
              <a:t> =x and </a:t>
            </a:r>
            <a:r>
              <a:rPr lang="en-GB" sz="1800" dirty="0" err="1"/>
              <a:t>lastline</a:t>
            </a:r>
            <a:r>
              <a:rPr lang="en-GB" sz="1800" dirty="0"/>
              <a:t> = y after the language allows certain lines to be chosen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5CE0EC5-1715-0E70-4A7D-9DADAD99FB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9179" y="2908329"/>
            <a:ext cx="4269604" cy="51146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C1313A6-A820-B473-507C-526D1A39D9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8569" y="2732921"/>
            <a:ext cx="2583214" cy="89716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C4886C5-423C-FAE9-6B33-1C9C1B26C9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7815" y="3984918"/>
            <a:ext cx="6669478" cy="51146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FB60FFD-F362-9D3B-A8FB-6B3DFA8117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6354" y="4809521"/>
            <a:ext cx="7772400" cy="195105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F8F3527-9B91-5351-4EC0-D1777EB858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0408" y="2529205"/>
            <a:ext cx="3822700" cy="4231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47902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D83133-F7A9-C507-C513-E672001B3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4E07EE93-353D-EB18-2FBA-C2DB7D5E2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D8131300-04C4-9557-C47B-8CEF6EE272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416" y="365125"/>
            <a:ext cx="11167447" cy="2089317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1F2964A-CE1B-CF64-E178-D0483601CF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746" y="586822"/>
            <a:ext cx="3560252" cy="1645920"/>
          </a:xfrm>
        </p:spPr>
        <p:txBody>
          <a:bodyPr>
            <a:normAutofit/>
          </a:bodyPr>
          <a:lstStyle/>
          <a:p>
            <a:r>
              <a:rPr lang="en-GB" sz="3200" dirty="0"/>
              <a:t>Notes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95C950B-A81E-619F-B149-3AA0609181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08" y="105773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47FF001-5058-81F1-A384-5CF910C35A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43541" y="1400638"/>
            <a:ext cx="14630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62F6EC-3B77-9ACE-7AD5-09B9227AB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1716" y="808521"/>
            <a:ext cx="6002636" cy="1645920"/>
          </a:xfrm>
        </p:spPr>
        <p:txBody>
          <a:bodyPr anchor="ctr">
            <a:normAutofit/>
          </a:bodyPr>
          <a:lstStyle/>
          <a:p>
            <a:r>
              <a:rPr lang="en-GB" sz="1800" dirty="0"/>
              <a:t>Overleaf has a large amount of user documentation on their website to help with many issues you may come across.</a:t>
            </a:r>
          </a:p>
          <a:p>
            <a:r>
              <a:rPr lang="en-GB" sz="1800" dirty="0" err="1"/>
              <a:t>TeX</a:t>
            </a:r>
            <a:r>
              <a:rPr lang="en-GB" sz="1800" dirty="0"/>
              <a:t> – LaTeX Stack Exchange can answer any other questions you may have.</a:t>
            </a:r>
          </a:p>
          <a:p>
            <a:r>
              <a:rPr lang="en-GB" sz="1800" dirty="0"/>
              <a:t>Overleaf allows collaboration on documents.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3B4E7C-1DD8-80FF-6CC0-8A64E74820F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786"/>
          <a:stretch/>
        </p:blipFill>
        <p:spPr>
          <a:xfrm>
            <a:off x="554416" y="2767579"/>
            <a:ext cx="6002636" cy="3604572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428DF36F-9478-7D72-9D29-5AEEAE16115E}"/>
              </a:ext>
            </a:extLst>
          </p:cNvPr>
          <p:cNvSpPr/>
          <p:nvPr/>
        </p:nvSpPr>
        <p:spPr>
          <a:xfrm>
            <a:off x="2170681" y="2676139"/>
            <a:ext cx="864704" cy="506895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49467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D057B9-C0D0-7DFE-F759-821630BE5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40B85848-AD16-349E-34EF-C9BF87864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B7E7A3D4-FC23-FFF8-7225-B099D14DA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416" y="365125"/>
            <a:ext cx="11167447" cy="2089317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9F3A4B-2A5E-55F8-54CE-A8D170D531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746" y="586822"/>
            <a:ext cx="3560252" cy="1645920"/>
          </a:xfrm>
        </p:spPr>
        <p:txBody>
          <a:bodyPr>
            <a:normAutofit/>
          </a:bodyPr>
          <a:lstStyle/>
          <a:p>
            <a:r>
              <a:rPr lang="en-GB" sz="3200" dirty="0"/>
              <a:t>Thank you!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4E57755-4FDA-8868-225A-954B1517D7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08" y="105773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B0068FF-58AF-08F7-5798-86FB2FD2F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43541" y="1400638"/>
            <a:ext cx="14630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C52F5C-B663-8F33-32D4-F74B12EFA8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1716" y="808521"/>
            <a:ext cx="6002636" cy="1645920"/>
          </a:xfrm>
        </p:spPr>
        <p:txBody>
          <a:bodyPr anchor="ctr">
            <a:normAutofit/>
          </a:bodyPr>
          <a:lstStyle/>
          <a:p>
            <a:r>
              <a:rPr lang="en-GB" sz="1800" dirty="0"/>
              <a:t>Please fill out the feedback form below.</a:t>
            </a:r>
          </a:p>
          <a:p>
            <a:r>
              <a:rPr lang="en-GB" sz="1800" dirty="0"/>
              <a:t>Find the resources on my GitHub linked below</a:t>
            </a:r>
          </a:p>
          <a:p>
            <a:r>
              <a:rPr lang="en-GB" sz="1800" dirty="0"/>
              <a:t>Become an Associate IOP Member today for £15.</a:t>
            </a:r>
          </a:p>
          <a:p>
            <a:endParaRPr lang="en-GB" sz="18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A369F65-0D80-0BDD-8B35-34285B4E12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746" y="2819567"/>
            <a:ext cx="3428999" cy="3428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Image preview">
            <a:extLst>
              <a:ext uri="{FF2B5EF4-FFF2-40B4-BE49-F238E27FC236}">
                <a16:creationId xmlns:a16="http://schemas.microsoft.com/office/drawing/2014/main" id="{D39CABCB-5500-D839-5728-CD133A53CD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47870" y="2569579"/>
            <a:ext cx="4173284" cy="4173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75620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Gre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6820</TotalTime>
  <Words>1191</Words>
  <Application>Microsoft Macintosh PowerPoint</Application>
  <PresentationFormat>Widescreen</PresentationFormat>
  <Paragraphs>133</Paragraphs>
  <Slides>30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6" baseType="lpstr">
      <vt:lpstr>Arial</vt:lpstr>
      <vt:lpstr>Calibri</vt:lpstr>
      <vt:lpstr>Calibri Light</vt:lpstr>
      <vt:lpstr>Helvetica</vt:lpstr>
      <vt:lpstr>roboto_light</vt:lpstr>
      <vt:lpstr>Office Theme</vt:lpstr>
      <vt:lpstr>LaTeX Workshop</vt:lpstr>
      <vt:lpstr>What is LaTeX?</vt:lpstr>
      <vt:lpstr>Why is LaTeX useful?</vt:lpstr>
      <vt:lpstr>How the IOP can help with LaTeX?</vt:lpstr>
      <vt:lpstr>How is LaTeX used by different people?</vt:lpstr>
      <vt:lpstr>How is LaTeX used by different people?</vt:lpstr>
      <vt:lpstr>Other examples of how LaTeX can be used.</vt:lpstr>
      <vt:lpstr>What is Overleaf?</vt:lpstr>
      <vt:lpstr>How to create an Overleaf account.</vt:lpstr>
      <vt:lpstr>How to create an Overleaf account.</vt:lpstr>
      <vt:lpstr>Creating a Blank Document</vt:lpstr>
      <vt:lpstr>Document Class</vt:lpstr>
      <vt:lpstr>Packages</vt:lpstr>
      <vt:lpstr>Title, Date, Author</vt:lpstr>
      <vt:lpstr>Abstract and Table of Contents</vt:lpstr>
      <vt:lpstr>Sections</vt:lpstr>
      <vt:lpstr>Lists</vt:lpstr>
      <vt:lpstr>Equations</vt:lpstr>
      <vt:lpstr>Equations</vt:lpstr>
      <vt:lpstr>Tables </vt:lpstr>
      <vt:lpstr>Figures</vt:lpstr>
      <vt:lpstr>Basic text formatting</vt:lpstr>
      <vt:lpstr>Referencing figures in text.</vt:lpstr>
      <vt:lpstr>References</vt:lpstr>
      <vt:lpstr>Bibliography</vt:lpstr>
      <vt:lpstr>Bibliography</vt:lpstr>
      <vt:lpstr>Appendix</vt:lpstr>
      <vt:lpstr>Python code </vt:lpstr>
      <vt:lpstr>Notes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LaTeX Workshop</dc:title>
  <dc:creator>Ollie Cunningham</dc:creator>
  <cp:lastModifiedBy>Ollie Cunningham</cp:lastModifiedBy>
  <cp:revision>33</cp:revision>
  <dcterms:created xsi:type="dcterms:W3CDTF">2024-02-21T21:02:54Z</dcterms:created>
  <dcterms:modified xsi:type="dcterms:W3CDTF">2024-11-20T11:38:25Z</dcterms:modified>
</cp:coreProperties>
</file>